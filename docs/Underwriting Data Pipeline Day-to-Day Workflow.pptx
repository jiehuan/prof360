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in business terms, what the underwriting data pipeline does every day: where the data comes from, when it updates, what it watches for, how it is checked, where people make the calls, and what we need to go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Collect: public SEC filings (10-K, 10-Q, 8-K, proxy statements, Form 4 insider trades, 13D), plus market data, news and earnings-call transcripts from Alpha Vantage. Understand: financial metrics curated per industry, risk signals from fixed rules, and AI that reads the documents and writes insights, every one tied to the source it came from. Deliver: the results land in the Professional 360 application database, which the app reads. In production, the AI runs through the firm’s SecureGPT gateway, so documents stay inside the firm’s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pipeline covers 107 companies: the S&amp;P 100 as of 21 September 2026, plus the 9 pilot companies we started with. They are sorted into 24 industry groups; each group tracks the metrics that matter for it, for example deposits and unrealized securities losses for banks, gross margin and R&amp;D for software. Every financial metric targets 5 fiscal years and 8 quarters of history. Where a metric is missing, there is a written reason, for example software companies hold no inventory. The text-based metrics are being filled by the AI pass that is running now. Next, the plan is to extend the industry groups to cover about 98% of US-listed operating companies that file 10-Ks.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follows the SEC. EDGAR accepts filings until 10 pm Eastern, so the nightly run starts at 11:30 pm and includes everything filed that day. A 5:30 am run catches filings that arrived late and retries anything that failed overnight. News refreshes every six hours; that needs the premium Alpha Vantage subscription. By the start of the business day, Professional 360 shows the overnight changes. On a typical night most companies have filed nothing new: the pipeline checks each one, skips what has not changed, and calls the AI only for new documents. That keeps normal nights short and inexpensive. Note: the schedule is configured and tested; it starts running once the pipeline is deployed to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in this order, every night. One: check SEC for each company’s new filings and refresh its profile. Two: rebuild the financial metrics from the filings’ structured data; this needs no AI. Three: market data and insiders, meaning daily share prices, reported earnings against analyst estimates, and officers’ and directors’ trades from Form 4. Four: the AI reads new documents only: annual and quarterly reports, earnings releases, proxy statements, legal proceedings and call transcripts. Five: fixed rules, not AI, raise the risk signals on the next slides. Six: the AI drafts insights and follow-up questions for underwriters, each tied to its sources. Seven: publish into the Professional 360 database. Eight: a data-quality report; anything doubtful goes to a person for review. If one company fails at a step, only that company’s later steps wait; everyone else carries on, and the morning run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earnings day most companies file only a press release, as an 8-K. The full financial statements, with their structured data, come with the 10-Q or 10-K, usually one to five weeks later; some companies file both the same day. The same night as the release, the pipeline stores preliminary revenue, net income and operating income from the press release, compares earnings per share with analyst estimates, and refreshes the company’s insight. Over the next trading days it watches the share price: a stock-drop signal when shares fall 10% or more in a day and at least 8 points more than the market (SPY), and an earnings-miss signal when shares fall 8% or more within three trading days of a miss. When the 10-Q or 10-K arrives, its figures replace the preliminary ones and every metric is recomputed. Preliminary values are labelled as such in the data until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drivers of securities class actions and other D&amp;O claims, and each has a fixed rule: the AI does not decide whether a signal fires. Stock drop: shares fall 10% or more in a day and at least 8 points more than the market. Earnings miss: shares fall 8% or more within three trading days after missing estimates. Insider selling: three or more officers or directors sell on the open market within 30 days; sales under pre-planned 10b5-1 trading plans are left out, and the signal is raised to a warning if a stock drop follows within 90 days. Corporate events come from 8-K items: restatements (non-reliance), auditor changes, cybersecurity incidents, impairments, delisting notices, bankruptcy, and leadership changes. Litigation and regulatory matters are read from the latest 10-K and later 10-Qs; new ones go to a person for review. Financial stress uses near-term debt coverage and the Altman Z-score. Activist stakes come from Schedule 13D filings that name the company. Thresholds are settings that the business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safeguards. First, traceability: every value and every insight links to its document, section or article, so an underwriter can always check the original. Second, grounding: the AI must quote the document, and its answer is dropped if the quote or the numbers cannot be found there. Third, figures taken from text are read twice and kept only when the two readings agree. Fourth, automated tests run the pipeline on saved copies of real filings and compare the results with figures typed by hand from the 10-Ks, for two companies in every industry module; any change that moves one of those numbers fails the tests. Fifth, coverage: every metric short of five years and eight quarters needs a written reason. Sixth, every night a data-quality report checks accounting identities, for example that quarters add up to the year, and sends breaks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flags; people decide. Anything uncertain goes to a review queue: signals where the AI checks disagree, stored figures that break an accounting identity, and litigation matters found for the first time after a company’s baseline. A reviewer approves or rejects each one, and the decision is respected on later runs; for example, a rejected legal matter raises no further signal and stays out of insights. What the pipeline tracks is set in reviewed settings files, not in code: which companies, which metrics per industry, which signals and their thresholds. Metric lists are curated by people and never generated at run time. One open item: we need an owner for the quarterly check of S&amp;P 100 membership.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designed to run without anyone watching it. Only one run happens at a time. If a run stops midway, for example a server restart, the next scheduled start within 12 hours resumes it instead of starting over. A failure is contained to one company and one step, and the morning run retries it. On cost: AI results are saved and keyed by their input, so a document that has not changed is never paid for twice. A daily spending cap stops new AI calls when it is reached, and the remaining work completes the next day. Market-data calls stay within the subscription’s limits. The cost figures are the plan’s estimates for the production models; the measured cost of the S&amp;P 100 load now running will replace the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the pilot with nine companies, one per industry, is complete, as is the D&amp;O risk layer covering market moves, insider trading, reporting quality and litigation. The S&amp;P 100 financial data is loaded across 24 industry groups, and the first AI pass over those companies is running now. Next is deployment on Azure, running on the work network with SecureGPT, and confirming the data contract with the Professional 360 application team. After that, the plan extends coverage to about 98% of US-listed operating companies. Four decisions we need: a premium Alpha Vantage subscription for production prices, estimates and news; request-rate quotas for SecureGPT from the gateway team (the token quota is already set); an owner for the quarterly S&amp;P 100 list check; and the AI budget for earnings season, when far more companies file each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68743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35E"/>
                </a:solidFill>
                <a:latin typeface="IBM Plex Sans" pitchFamily="34" charset="0"/>
                <a:ea typeface="IBM Plex Sans" pitchFamily="34" charset="-122"/>
                <a:cs typeface="IBM Plex Sans" pitchFamily="34" charset="-120"/>
              </a:rPr>
              <a:t>PROFESSIONAL 360 · D&amp;O UNDERWRITING</a:t>
            </a:r>
            <a:endParaRPr lang="en-US" sz="1200" dirty="0"/>
          </a:p>
        </p:txBody>
      </p:sp>
      <p:sp>
        <p:nvSpPr>
          <p:cNvPr id="3" name="Text 1"/>
          <p:cNvSpPr/>
          <p:nvPr>
            <p:ph type="title"/>
          </p:nvPr>
        </p:nvSpPr>
        <p:spPr>
          <a:xfrm>
            <a:off x="812800" y="3154759"/>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Underwriting data, refreshed every night</a:t>
            </a:r>
            <a:endParaRPr lang="en-US" sz="6000" dirty="0"/>
          </a:p>
        </p:txBody>
      </p:sp>
      <p:sp>
        <p:nvSpPr>
          <p:cNvPr id="4" name="Text 2"/>
          <p:cNvSpPr/>
          <p:nvPr/>
        </p:nvSpPr>
        <p:spPr>
          <a:xfrm>
            <a:off x="812800" y="5008959"/>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4E3"/>
                </a:solidFill>
                <a:latin typeface="IBM Plex Sans" pitchFamily="34" charset="0"/>
                <a:ea typeface="IBM Plex Sans" pitchFamily="34" charset="-122"/>
                <a:cs typeface="IBM Plex Sans" pitchFamily="34" charset="-120"/>
              </a:rPr>
              <a:t>How the pipeline turns public filings, market data and news into what underwriters see each morning</a:t>
            </a:r>
            <a:endParaRPr lang="en-US" sz="16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3"/>
                </a:solidFill>
                <a:latin typeface="IBM Plex Sans" pitchFamily="34" charset="0"/>
                <a:ea typeface="IBM Plex Sans" pitchFamily="34" charset="-122"/>
                <a:cs typeface="IBM Plex Sans" pitchFamily="34" charset="-120"/>
              </a:rPr>
              <a:t>[Presenter]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From public sources to Professional 360</a:t>
            </a:r>
            <a:endParaRPr lang="en-US" sz="3600" dirty="0"/>
          </a:p>
        </p:txBody>
      </p:sp>
      <p:sp>
        <p:nvSpPr>
          <p:cNvPr id="3" name="Shape 1"/>
          <p:cNvSpPr/>
          <p:nvPr/>
        </p:nvSpPr>
        <p:spPr>
          <a:xfrm>
            <a:off x="815975" y="1674465"/>
            <a:ext cx="3075484" cy="3048992"/>
          </a:xfrm>
          <a:prstGeom prst="roundRect">
            <a:avLst>
              <a:gd name="adj" fmla="val 3228"/>
            </a:avLst>
          </a:prstGeom>
          <a:solidFill>
            <a:srgbClr val="FDFCF9"/>
          </a:solidFill>
          <a:ln w="6350">
            <a:solidFill>
              <a:srgbClr val="DDD8CD"/>
            </a:solidFill>
            <a:prstDash val="solid"/>
          </a:ln>
        </p:spPr>
      </p:sp>
      <p:sp>
        <p:nvSpPr>
          <p:cNvPr id="4" name="Text 2"/>
          <p:cNvSpPr/>
          <p:nvPr/>
        </p:nvSpPr>
        <p:spPr>
          <a:xfrm>
            <a:off x="1073150" y="1931640"/>
            <a:ext cx="26379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IBM Plex Sans" pitchFamily="34" charset="0"/>
                <a:ea typeface="IBM Plex Sans" pitchFamily="34" charset="-122"/>
                <a:cs typeface="IBM Plex Sans" pitchFamily="34" charset="-120"/>
              </a:rPr>
              <a:t>1 · COLLECT</a:t>
            </a:r>
            <a:endParaRPr lang="en-US" sz="1200" dirty="0"/>
          </a:p>
        </p:txBody>
      </p:sp>
      <p:sp>
        <p:nvSpPr>
          <p:cNvPr id="5" name="Text 3"/>
          <p:cNvSpPr/>
          <p:nvPr/>
        </p:nvSpPr>
        <p:spPr>
          <a:xfrm>
            <a:off x="1130808" y="2271961"/>
            <a:ext cx="2572690" cy="2219722"/>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SEC filings: annual, quarterly and event reports, proxies, insider trades</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Stock prices and analyst estimates</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News and earnings-call transcripts</a:t>
            </a:r>
            <a:endParaRPr lang="en-US" sz="1600" dirty="0"/>
          </a:p>
        </p:txBody>
      </p:sp>
      <p:pic>
        <p:nvPicPr>
          <p:cNvPr id="6" name="Image 0" descr="arrow-right">    </p:cNvPr>
          <p:cNvPicPr>
            <a:picLocks noChangeAspect="1"/>
          </p:cNvPicPr>
          <p:nvPr/>
        </p:nvPicPr>
        <p:blipFill>
          <a:blip r:embed="rId1"/>
          <a:srcRect l="0" r="0" t="0" b="0"/>
          <a:stretch/>
        </p:blipFill>
        <p:spPr>
          <a:xfrm>
            <a:off x="4047034" y="3110061"/>
            <a:ext cx="355600" cy="177800"/>
          </a:xfrm>
          <a:prstGeom prst="rect">
            <a:avLst/>
          </a:prstGeom>
        </p:spPr>
      </p:pic>
      <p:sp>
        <p:nvSpPr>
          <p:cNvPr id="7" name="Shape 4"/>
          <p:cNvSpPr/>
          <p:nvPr/>
        </p:nvSpPr>
        <p:spPr>
          <a:xfrm>
            <a:off x="4558209" y="1674465"/>
            <a:ext cx="3075533" cy="3048992"/>
          </a:xfrm>
          <a:prstGeom prst="roundRect">
            <a:avLst>
              <a:gd name="adj" fmla="val 3228"/>
            </a:avLst>
          </a:prstGeom>
          <a:solidFill>
            <a:srgbClr val="FDFCF9"/>
          </a:solidFill>
          <a:ln w="6350">
            <a:solidFill>
              <a:srgbClr val="DDD8CD"/>
            </a:solidFill>
            <a:prstDash val="solid"/>
          </a:ln>
        </p:spPr>
      </p:sp>
      <p:sp>
        <p:nvSpPr>
          <p:cNvPr id="8" name="Text 5"/>
          <p:cNvSpPr/>
          <p:nvPr/>
        </p:nvSpPr>
        <p:spPr>
          <a:xfrm>
            <a:off x="4815384" y="1931640"/>
            <a:ext cx="26380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IBM Plex Sans" pitchFamily="34" charset="0"/>
                <a:ea typeface="IBM Plex Sans" pitchFamily="34" charset="-122"/>
                <a:cs typeface="IBM Plex Sans" pitchFamily="34" charset="-120"/>
              </a:rPr>
              <a:t>2 · UNDERSTAND</a:t>
            </a:r>
            <a:endParaRPr lang="en-US" sz="1200" dirty="0"/>
          </a:p>
        </p:txBody>
      </p:sp>
      <p:sp>
        <p:nvSpPr>
          <p:cNvPr id="9" name="Text 6"/>
          <p:cNvSpPr/>
          <p:nvPr/>
        </p:nvSpPr>
        <p:spPr>
          <a:xfrm>
            <a:off x="4873042" y="2271961"/>
            <a:ext cx="2572741" cy="1945432"/>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Financial metrics chosen per industry</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Risk signals from fixed rules</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AI reads filings and writes insights, each tied to its source</a:t>
            </a:r>
            <a:endParaRPr lang="en-US" sz="1600" dirty="0"/>
          </a:p>
        </p:txBody>
      </p:sp>
      <p:pic>
        <p:nvPicPr>
          <p:cNvPr id="10" name="Image 1" descr="arrow-right">    </p:cNvPr>
          <p:cNvPicPr>
            <a:picLocks noChangeAspect="1"/>
          </p:cNvPicPr>
          <p:nvPr/>
        </p:nvPicPr>
        <p:blipFill>
          <a:blip r:embed="rId2"/>
          <a:srcRect l="0" r="0" t="0" b="0"/>
          <a:stretch/>
        </p:blipFill>
        <p:spPr>
          <a:xfrm>
            <a:off x="7789317" y="3110061"/>
            <a:ext cx="355600" cy="177800"/>
          </a:xfrm>
          <a:prstGeom prst="rect">
            <a:avLst/>
          </a:prstGeom>
        </p:spPr>
      </p:pic>
      <p:sp>
        <p:nvSpPr>
          <p:cNvPr id="11" name="Shape 7"/>
          <p:cNvSpPr/>
          <p:nvPr/>
        </p:nvSpPr>
        <p:spPr>
          <a:xfrm>
            <a:off x="8300492" y="1674465"/>
            <a:ext cx="3075533" cy="3048992"/>
          </a:xfrm>
          <a:prstGeom prst="roundRect">
            <a:avLst>
              <a:gd name="adj" fmla="val 3228"/>
            </a:avLst>
          </a:prstGeom>
          <a:solidFill>
            <a:srgbClr val="FDFCF9"/>
          </a:solidFill>
          <a:ln w="6350">
            <a:solidFill>
              <a:srgbClr val="DDD8CD"/>
            </a:solidFill>
            <a:prstDash val="solid"/>
          </a:ln>
        </p:spPr>
      </p:sp>
      <p:sp>
        <p:nvSpPr>
          <p:cNvPr id="12" name="Text 8"/>
          <p:cNvSpPr/>
          <p:nvPr/>
        </p:nvSpPr>
        <p:spPr>
          <a:xfrm>
            <a:off x="8557667" y="1931640"/>
            <a:ext cx="26380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IBM Plex Sans" pitchFamily="34" charset="0"/>
                <a:ea typeface="IBM Plex Sans" pitchFamily="34" charset="-122"/>
                <a:cs typeface="IBM Plex Sans" pitchFamily="34" charset="-120"/>
              </a:rPr>
              <a:t>3 · DELIVER</a:t>
            </a:r>
            <a:endParaRPr lang="en-US" sz="1200" dirty="0"/>
          </a:p>
        </p:txBody>
      </p:sp>
      <p:sp>
        <p:nvSpPr>
          <p:cNvPr id="13" name="Text 9"/>
          <p:cNvSpPr/>
          <p:nvPr/>
        </p:nvSpPr>
        <p:spPr>
          <a:xfrm>
            <a:off x="8615325" y="2271961"/>
            <a:ext cx="2572741" cy="1396851"/>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Professional 360, ready each morning</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Metrics, risk flags, insights, follow-up questions and news</a:t>
            </a:r>
            <a:endParaRPr lang="en-US" sz="1600" dirty="0"/>
          </a:p>
        </p:txBody>
      </p:sp>
      <p:sp>
        <p:nvSpPr>
          <p:cNvPr id="14" name="Text 10"/>
          <p:cNvSpPr/>
          <p:nvPr/>
        </p:nvSpPr>
        <p:spPr>
          <a:xfrm>
            <a:off x="812800" y="508223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 production, every AI call goes through the firm’s SecureGPT gateway.</a:t>
            </a:r>
            <a:endParaRPr lang="en-US" sz="16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16"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What we cover today</a:t>
            </a:r>
            <a:endParaRPr lang="en-US" sz="3600" dirty="0"/>
          </a:p>
        </p:txBody>
      </p:sp>
      <p:sp>
        <p:nvSpPr>
          <p:cNvPr id="3" name="Shape 1"/>
          <p:cNvSpPr/>
          <p:nvPr/>
        </p:nvSpPr>
        <p:spPr>
          <a:xfrm>
            <a:off x="815975" y="1674465"/>
            <a:ext cx="2482850" cy="2388741"/>
          </a:xfrm>
          <a:prstGeom prst="roundRect">
            <a:avLst>
              <a:gd name="adj" fmla="val 4120"/>
            </a:avLst>
          </a:prstGeom>
          <a:solidFill>
            <a:srgbClr val="FDFCF9"/>
          </a:solidFill>
          <a:ln w="6350">
            <a:solidFill>
              <a:srgbClr val="DDD8CD"/>
            </a:solidFill>
            <a:prstDash val="solid"/>
          </a:ln>
        </p:spPr>
      </p:sp>
      <p:sp>
        <p:nvSpPr>
          <p:cNvPr id="4" name="Text 2"/>
          <p:cNvSpPr/>
          <p:nvPr/>
        </p:nvSpPr>
        <p:spPr>
          <a:xfrm>
            <a:off x="1073150" y="193164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B5C9E"/>
                </a:solidFill>
                <a:latin typeface="Source Serif 4" pitchFamily="18" charset="0"/>
                <a:ea typeface="Source Serif 4" pitchFamily="18" charset="-122"/>
                <a:cs typeface="Source Serif 4" pitchFamily="18" charset="-120"/>
              </a:rPr>
              <a:t>107</a:t>
            </a:r>
            <a:endParaRPr lang="en-US" sz="6000" dirty="0"/>
          </a:p>
        </p:txBody>
      </p:sp>
      <p:sp>
        <p:nvSpPr>
          <p:cNvPr id="5" name="Text 3"/>
          <p:cNvSpPr/>
          <p:nvPr/>
        </p:nvSpPr>
        <p:spPr>
          <a:xfrm>
            <a:off x="1073150" y="284604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companies</a:t>
            </a:r>
            <a:endParaRPr lang="en-US" sz="1600" dirty="0"/>
          </a:p>
        </p:txBody>
      </p:sp>
      <p:sp>
        <p:nvSpPr>
          <p:cNvPr id="6" name="Text 4"/>
          <p:cNvSpPr/>
          <p:nvPr/>
        </p:nvSpPr>
        <p:spPr>
          <a:xfrm>
            <a:off x="1073150" y="3166070"/>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The S&amp;P 100 plus our 9 pilot companies</a:t>
            </a:r>
            <a:endParaRPr lang="en-US" sz="1200" dirty="0"/>
          </a:p>
        </p:txBody>
      </p:sp>
      <p:sp>
        <p:nvSpPr>
          <p:cNvPr id="7" name="Shape 5"/>
          <p:cNvSpPr/>
          <p:nvPr/>
        </p:nvSpPr>
        <p:spPr>
          <a:xfrm>
            <a:off x="3508375" y="1674465"/>
            <a:ext cx="2482850" cy="2388741"/>
          </a:xfrm>
          <a:prstGeom prst="roundRect">
            <a:avLst>
              <a:gd name="adj" fmla="val 4120"/>
            </a:avLst>
          </a:prstGeom>
          <a:solidFill>
            <a:srgbClr val="FDFCF9"/>
          </a:solidFill>
          <a:ln w="6350">
            <a:solidFill>
              <a:srgbClr val="DDD8CD"/>
            </a:solidFill>
            <a:prstDash val="solid"/>
          </a:ln>
        </p:spPr>
      </p:sp>
      <p:sp>
        <p:nvSpPr>
          <p:cNvPr id="8" name="Text 6"/>
          <p:cNvSpPr/>
          <p:nvPr/>
        </p:nvSpPr>
        <p:spPr>
          <a:xfrm>
            <a:off x="3765550" y="193164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B5C9E"/>
                </a:solidFill>
                <a:latin typeface="Source Serif 4" pitchFamily="18" charset="0"/>
                <a:ea typeface="Source Serif 4" pitchFamily="18" charset="-122"/>
                <a:cs typeface="Source Serif 4" pitchFamily="18" charset="-120"/>
              </a:rPr>
              <a:t>24</a:t>
            </a:r>
            <a:endParaRPr lang="en-US" sz="6000" dirty="0"/>
          </a:p>
        </p:txBody>
      </p:sp>
      <p:sp>
        <p:nvSpPr>
          <p:cNvPr id="9" name="Text 7"/>
          <p:cNvSpPr/>
          <p:nvPr/>
        </p:nvSpPr>
        <p:spPr>
          <a:xfrm>
            <a:off x="3765550" y="284604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industry groups</a:t>
            </a:r>
            <a:endParaRPr lang="en-US" sz="1600" dirty="0"/>
          </a:p>
        </p:txBody>
      </p:sp>
      <p:sp>
        <p:nvSpPr>
          <p:cNvPr id="10" name="Text 8"/>
          <p:cNvSpPr/>
          <p:nvPr/>
        </p:nvSpPr>
        <p:spPr>
          <a:xfrm>
            <a:off x="3765550" y="3166070"/>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Each with its own metrics, such as deposits for banks</a:t>
            </a:r>
            <a:endParaRPr lang="en-US" sz="1200" dirty="0"/>
          </a:p>
        </p:txBody>
      </p:sp>
      <p:sp>
        <p:nvSpPr>
          <p:cNvPr id="11" name="Shape 9"/>
          <p:cNvSpPr/>
          <p:nvPr/>
        </p:nvSpPr>
        <p:spPr>
          <a:xfrm>
            <a:off x="6200775" y="1674465"/>
            <a:ext cx="2482850" cy="2388741"/>
          </a:xfrm>
          <a:prstGeom prst="roundRect">
            <a:avLst>
              <a:gd name="adj" fmla="val 4120"/>
            </a:avLst>
          </a:prstGeom>
          <a:solidFill>
            <a:srgbClr val="FDFCF9"/>
          </a:solidFill>
          <a:ln w="6350">
            <a:solidFill>
              <a:srgbClr val="DDD8CD"/>
            </a:solidFill>
            <a:prstDash val="solid"/>
          </a:ln>
        </p:spPr>
      </p:sp>
      <p:sp>
        <p:nvSpPr>
          <p:cNvPr id="12" name="Text 10"/>
          <p:cNvSpPr/>
          <p:nvPr/>
        </p:nvSpPr>
        <p:spPr>
          <a:xfrm>
            <a:off x="6457950" y="193164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B5C9E"/>
                </a:solidFill>
                <a:latin typeface="Source Serif 4" pitchFamily="18" charset="0"/>
                <a:ea typeface="Source Serif 4" pitchFamily="18" charset="-122"/>
                <a:cs typeface="Source Serif 4" pitchFamily="18" charset="-120"/>
              </a:rPr>
              <a:t>5 + 8</a:t>
            </a:r>
            <a:endParaRPr lang="en-US" sz="6000" dirty="0"/>
          </a:p>
        </p:txBody>
      </p:sp>
      <p:sp>
        <p:nvSpPr>
          <p:cNvPr id="13" name="Text 11"/>
          <p:cNvSpPr/>
          <p:nvPr/>
        </p:nvSpPr>
        <p:spPr>
          <a:xfrm>
            <a:off x="6457950" y="284604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years + quarters</a:t>
            </a:r>
            <a:endParaRPr lang="en-US" sz="1600" dirty="0"/>
          </a:p>
        </p:txBody>
      </p:sp>
      <p:sp>
        <p:nvSpPr>
          <p:cNvPr id="14" name="Text 12"/>
          <p:cNvSpPr/>
          <p:nvPr/>
        </p:nvSpPr>
        <p:spPr>
          <a:xfrm>
            <a:off x="6457950" y="3166070"/>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Of history for every financial metric</a:t>
            </a:r>
            <a:endParaRPr lang="en-US" sz="1200" dirty="0"/>
          </a:p>
        </p:txBody>
      </p:sp>
      <p:sp>
        <p:nvSpPr>
          <p:cNvPr id="15" name="Shape 13"/>
          <p:cNvSpPr/>
          <p:nvPr/>
        </p:nvSpPr>
        <p:spPr>
          <a:xfrm>
            <a:off x="8893175" y="1674465"/>
            <a:ext cx="2482850" cy="2388741"/>
          </a:xfrm>
          <a:prstGeom prst="roundRect">
            <a:avLst>
              <a:gd name="adj" fmla="val 4120"/>
            </a:avLst>
          </a:prstGeom>
          <a:solidFill>
            <a:srgbClr val="FDFCF9"/>
          </a:solidFill>
          <a:ln w="6350">
            <a:solidFill>
              <a:srgbClr val="DDD8CD"/>
            </a:solidFill>
            <a:prstDash val="solid"/>
          </a:ln>
        </p:spPr>
      </p:sp>
      <p:sp>
        <p:nvSpPr>
          <p:cNvPr id="16" name="Text 14"/>
          <p:cNvSpPr/>
          <p:nvPr/>
        </p:nvSpPr>
        <p:spPr>
          <a:xfrm>
            <a:off x="9150350" y="1931640"/>
            <a:ext cx="202755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B5C9E"/>
                </a:solidFill>
                <a:latin typeface="Source Serif 4" pitchFamily="18" charset="0"/>
                <a:ea typeface="Source Serif 4" pitchFamily="18" charset="-122"/>
                <a:cs typeface="Source Serif 4" pitchFamily="18" charset="-120"/>
              </a:rPr>
              <a:t>0</a:t>
            </a:r>
            <a:endParaRPr lang="en-US" sz="6000" dirty="0"/>
          </a:p>
        </p:txBody>
      </p:sp>
      <p:sp>
        <p:nvSpPr>
          <p:cNvPr id="17" name="Text 15"/>
          <p:cNvSpPr/>
          <p:nvPr/>
        </p:nvSpPr>
        <p:spPr>
          <a:xfrm>
            <a:off x="9150350" y="284604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unexplained gaps</a:t>
            </a:r>
            <a:endParaRPr lang="en-US" sz="1600" dirty="0"/>
          </a:p>
        </p:txBody>
      </p:sp>
      <p:sp>
        <p:nvSpPr>
          <p:cNvPr id="18" name="Text 16"/>
          <p:cNvSpPr/>
          <p:nvPr/>
        </p:nvSpPr>
        <p:spPr>
          <a:xfrm>
            <a:off x="9150350" y="3166070"/>
            <a:ext cx="202755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Every missing financial-statement metric has a written reason</a:t>
            </a:r>
            <a:endParaRPr lang="en-US" sz="1200" dirty="0"/>
          </a:p>
        </p:txBody>
      </p:sp>
      <p:sp>
        <p:nvSpPr>
          <p:cNvPr id="19" name="Shape 17"/>
          <p:cNvSpPr/>
          <p:nvPr/>
        </p:nvSpPr>
        <p:spPr>
          <a:xfrm>
            <a:off x="831850" y="4421981"/>
            <a:ext cx="0" cy="386060"/>
          </a:xfrm>
          <a:prstGeom prst="line">
            <a:avLst/>
          </a:prstGeom>
          <a:noFill/>
          <a:ln w="38100">
            <a:solidFill>
              <a:srgbClr val="A8540F"/>
            </a:solidFill>
            <a:prstDash val="solid"/>
          </a:ln>
        </p:spPr>
      </p:sp>
      <p:sp>
        <p:nvSpPr>
          <p:cNvPr id="20" name="Text 18"/>
          <p:cNvSpPr/>
          <p:nvPr/>
        </p:nvSpPr>
        <p:spPr>
          <a:xfrm>
            <a:off x="1054100" y="4472781"/>
            <a:ext cx="106348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Next (planned): about 98% of US-listed operating companies that file 10-Ks.</a:t>
            </a:r>
            <a:endParaRPr lang="en-US" sz="16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 normal day</a:t>
            </a:r>
            <a:endParaRPr lang="en-US" sz="3600" dirty="0"/>
          </a:p>
        </p:txBody>
      </p:sp>
      <p:sp>
        <p:nvSpPr>
          <p:cNvPr id="3" name="Shape 1"/>
          <p:cNvSpPr/>
          <p:nvPr/>
        </p:nvSpPr>
        <p:spPr>
          <a:xfrm>
            <a:off x="812800" y="1690340"/>
            <a:ext cx="1991320" cy="0"/>
          </a:xfrm>
          <a:prstGeom prst="line">
            <a:avLst/>
          </a:prstGeom>
          <a:noFill/>
          <a:ln w="38100">
            <a:solidFill>
              <a:srgbClr val="5F6B7A"/>
            </a:solidFill>
            <a:prstDash val="solid"/>
          </a:ln>
        </p:spPr>
      </p:sp>
      <p:sp>
        <p:nvSpPr>
          <p:cNvPr id="4" name="Text 2"/>
          <p:cNvSpPr/>
          <p:nvPr/>
        </p:nvSpPr>
        <p:spPr>
          <a:xfrm>
            <a:off x="812800" y="1887190"/>
            <a:ext cx="205106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Source Serif 4" pitchFamily="18" charset="0"/>
                <a:ea typeface="Source Serif 4" pitchFamily="18" charset="-122"/>
                <a:cs typeface="Source Serif 4" pitchFamily="18" charset="-120"/>
              </a:rPr>
              <a:t>22:00 ET</a:t>
            </a:r>
            <a:endParaRPr lang="en-US" sz="2200" dirty="0"/>
          </a:p>
        </p:txBody>
      </p:sp>
      <p:sp>
        <p:nvSpPr>
          <p:cNvPr id="5" name="Text 3"/>
          <p:cNvSpPr/>
          <p:nvPr/>
        </p:nvSpPr>
        <p:spPr>
          <a:xfrm>
            <a:off x="812800" y="2296120"/>
            <a:ext cx="205106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D4A5C"/>
                </a:solidFill>
                <a:latin typeface="IBM Plex Sans" pitchFamily="34" charset="0"/>
                <a:ea typeface="IBM Plex Sans" pitchFamily="34" charset="-122"/>
                <a:cs typeface="IBM Plex Sans" pitchFamily="34" charset="-120"/>
              </a:rPr>
              <a:t>SEC closes the day’s filing window</a:t>
            </a:r>
            <a:endParaRPr lang="en-US" sz="1600" dirty="0"/>
          </a:p>
        </p:txBody>
      </p:sp>
      <p:sp>
        <p:nvSpPr>
          <p:cNvPr id="6" name="Shape 4"/>
          <p:cNvSpPr/>
          <p:nvPr/>
        </p:nvSpPr>
        <p:spPr>
          <a:xfrm>
            <a:off x="2956520" y="1690340"/>
            <a:ext cx="1991370" cy="0"/>
          </a:xfrm>
          <a:prstGeom prst="line">
            <a:avLst/>
          </a:prstGeom>
          <a:noFill/>
          <a:ln w="38100">
            <a:solidFill>
              <a:srgbClr val="2B5C9E"/>
            </a:solidFill>
            <a:prstDash val="solid"/>
          </a:ln>
        </p:spPr>
      </p:sp>
      <p:sp>
        <p:nvSpPr>
          <p:cNvPr id="7" name="Text 5"/>
          <p:cNvSpPr/>
          <p:nvPr/>
        </p:nvSpPr>
        <p:spPr>
          <a:xfrm>
            <a:off x="2956520" y="1887190"/>
            <a:ext cx="2051111"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B5C9E"/>
                </a:solidFill>
                <a:latin typeface="Source Serif 4" pitchFamily="18" charset="0"/>
                <a:ea typeface="Source Serif 4" pitchFamily="18" charset="-122"/>
                <a:cs typeface="Source Serif 4" pitchFamily="18" charset="-120"/>
              </a:rPr>
              <a:t>23:30 ET</a:t>
            </a:r>
            <a:endParaRPr lang="en-US" sz="2200" dirty="0"/>
          </a:p>
        </p:txBody>
      </p:sp>
      <p:sp>
        <p:nvSpPr>
          <p:cNvPr id="8" name="Text 6"/>
          <p:cNvSpPr/>
          <p:nvPr/>
        </p:nvSpPr>
        <p:spPr>
          <a:xfrm>
            <a:off x="2956520" y="2296120"/>
            <a:ext cx="2051111" cy="84827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3D4A5C"/>
                </a:solidFill>
                <a:latin typeface="IBM Plex Sans" pitchFamily="34" charset="0"/>
                <a:ea typeface="IBM Plex Sans" pitchFamily="34" charset="-122"/>
                <a:cs typeface="IBM Plex Sans" pitchFamily="34" charset="-120"/>
              </a:rPr>
              <a:t>Nightly run</a:t>
            </a:r>
            <a:r>
              <a:rPr lang="en-US" sz="1600" dirty="0">
                <a:solidFill>
                  <a:srgbClr val="3D4A5C"/>
                </a:solidFill>
                <a:latin typeface="IBM Plex Sans" pitchFamily="34" charset="0"/>
                <a:ea typeface="IBM Plex Sans" pitchFamily="34" charset="-122"/>
                <a:cs typeface="IBM Plex Sans" pitchFamily="34" charset="-120"/>
              </a:rPr>
              <a:t> processes everything filed that day</a:t>
            </a:r>
            <a:endParaRPr lang="en-US" sz="1600" dirty="0"/>
          </a:p>
        </p:txBody>
      </p:sp>
      <p:sp>
        <p:nvSpPr>
          <p:cNvPr id="9" name="Shape 7"/>
          <p:cNvSpPr/>
          <p:nvPr/>
        </p:nvSpPr>
        <p:spPr>
          <a:xfrm>
            <a:off x="5100290" y="1690340"/>
            <a:ext cx="1991370" cy="0"/>
          </a:xfrm>
          <a:prstGeom prst="line">
            <a:avLst/>
          </a:prstGeom>
          <a:noFill/>
          <a:ln w="38100">
            <a:solidFill>
              <a:srgbClr val="2B5C9E"/>
            </a:solidFill>
            <a:prstDash val="solid"/>
          </a:ln>
        </p:spPr>
      </p:sp>
      <p:sp>
        <p:nvSpPr>
          <p:cNvPr id="10" name="Text 8"/>
          <p:cNvSpPr/>
          <p:nvPr/>
        </p:nvSpPr>
        <p:spPr>
          <a:xfrm>
            <a:off x="5100290" y="1887190"/>
            <a:ext cx="2051111"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B5C9E"/>
                </a:solidFill>
                <a:latin typeface="Source Serif 4" pitchFamily="18" charset="0"/>
                <a:ea typeface="Source Serif 4" pitchFamily="18" charset="-122"/>
                <a:cs typeface="Source Serif 4" pitchFamily="18" charset="-120"/>
              </a:rPr>
              <a:t>05:30 ET</a:t>
            </a:r>
            <a:endParaRPr lang="en-US" sz="2200" dirty="0"/>
          </a:p>
        </p:txBody>
      </p:sp>
      <p:sp>
        <p:nvSpPr>
          <p:cNvPr id="11" name="Text 9"/>
          <p:cNvSpPr/>
          <p:nvPr/>
        </p:nvSpPr>
        <p:spPr>
          <a:xfrm>
            <a:off x="5100290" y="2296120"/>
            <a:ext cx="2051111" cy="84827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3D4A5C"/>
                </a:solidFill>
                <a:latin typeface="IBM Plex Sans" pitchFamily="34" charset="0"/>
                <a:ea typeface="IBM Plex Sans" pitchFamily="34" charset="-122"/>
                <a:cs typeface="IBM Plex Sans" pitchFamily="34" charset="-120"/>
              </a:rPr>
              <a:t>Morning run</a:t>
            </a:r>
            <a:r>
              <a:rPr lang="en-US" sz="1600" dirty="0">
                <a:solidFill>
                  <a:srgbClr val="3D4A5C"/>
                </a:solidFill>
                <a:latin typeface="IBM Plex Sans" pitchFamily="34" charset="0"/>
                <a:ea typeface="IBM Plex Sans" pitchFamily="34" charset="-122"/>
                <a:cs typeface="IBM Plex Sans" pitchFamily="34" charset="-120"/>
              </a:rPr>
              <a:t> picks up late filings and retries anything that failed</a:t>
            </a:r>
            <a:endParaRPr lang="en-US" sz="1600" dirty="0"/>
          </a:p>
        </p:txBody>
      </p:sp>
      <p:sp>
        <p:nvSpPr>
          <p:cNvPr id="12" name="Shape 10"/>
          <p:cNvSpPr/>
          <p:nvPr/>
        </p:nvSpPr>
        <p:spPr>
          <a:xfrm>
            <a:off x="7244060" y="1690340"/>
            <a:ext cx="1991370" cy="0"/>
          </a:xfrm>
          <a:prstGeom prst="line">
            <a:avLst/>
          </a:prstGeom>
          <a:noFill/>
          <a:ln w="38100">
            <a:solidFill>
              <a:srgbClr val="5F6B7A"/>
            </a:solidFill>
            <a:prstDash val="solid"/>
          </a:ln>
        </p:spPr>
      </p:sp>
      <p:sp>
        <p:nvSpPr>
          <p:cNvPr id="13" name="Text 11"/>
          <p:cNvSpPr/>
          <p:nvPr/>
        </p:nvSpPr>
        <p:spPr>
          <a:xfrm>
            <a:off x="7244060" y="1887190"/>
            <a:ext cx="2051111"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4213D"/>
                </a:solidFill>
                <a:latin typeface="Source Serif 4" pitchFamily="18" charset="0"/>
                <a:ea typeface="Source Serif 4" pitchFamily="18" charset="-122"/>
                <a:cs typeface="Source Serif 4" pitchFamily="18" charset="-120"/>
              </a:rPr>
              <a:t>Every 6 hours</a:t>
            </a:r>
            <a:endParaRPr lang="en-US" sz="2200" dirty="0"/>
          </a:p>
        </p:txBody>
      </p:sp>
      <p:sp>
        <p:nvSpPr>
          <p:cNvPr id="14" name="Text 12"/>
          <p:cNvSpPr/>
          <p:nvPr/>
        </p:nvSpPr>
        <p:spPr>
          <a:xfrm>
            <a:off x="7244060" y="2296120"/>
            <a:ext cx="2051111"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D4A5C"/>
                </a:solidFill>
                <a:latin typeface="IBM Plex Sans" pitchFamily="34" charset="0"/>
                <a:ea typeface="IBM Plex Sans" pitchFamily="34" charset="-122"/>
                <a:cs typeface="IBM Plex Sans" pitchFamily="34" charset="-120"/>
              </a:rPr>
              <a:t>News refresh through the day</a:t>
            </a:r>
            <a:endParaRPr lang="en-US" sz="1600" dirty="0"/>
          </a:p>
        </p:txBody>
      </p:sp>
      <p:sp>
        <p:nvSpPr>
          <p:cNvPr id="15" name="Shape 13"/>
          <p:cNvSpPr/>
          <p:nvPr/>
        </p:nvSpPr>
        <p:spPr>
          <a:xfrm>
            <a:off x="9387830" y="1690340"/>
            <a:ext cx="1991370" cy="0"/>
          </a:xfrm>
          <a:prstGeom prst="line">
            <a:avLst/>
          </a:prstGeom>
          <a:noFill/>
          <a:ln w="38100">
            <a:solidFill>
              <a:srgbClr val="A8540F"/>
            </a:solidFill>
            <a:prstDash val="solid"/>
          </a:ln>
        </p:spPr>
      </p:sp>
      <p:sp>
        <p:nvSpPr>
          <p:cNvPr id="16" name="Text 14"/>
          <p:cNvSpPr/>
          <p:nvPr/>
        </p:nvSpPr>
        <p:spPr>
          <a:xfrm>
            <a:off x="9387830" y="1887190"/>
            <a:ext cx="2051111"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A8540F"/>
                </a:solidFill>
                <a:latin typeface="Source Serif 4" pitchFamily="18" charset="0"/>
                <a:ea typeface="Source Serif 4" pitchFamily="18" charset="-122"/>
                <a:cs typeface="Source Serif 4" pitchFamily="18" charset="-120"/>
              </a:rPr>
              <a:t>Morning</a:t>
            </a:r>
            <a:endParaRPr lang="en-US" sz="2200" dirty="0"/>
          </a:p>
        </p:txBody>
      </p:sp>
      <p:sp>
        <p:nvSpPr>
          <p:cNvPr id="17" name="Text 15"/>
          <p:cNvSpPr/>
          <p:nvPr/>
        </p:nvSpPr>
        <p:spPr>
          <a:xfrm>
            <a:off x="9387830" y="2296120"/>
            <a:ext cx="2051111"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D4A5C"/>
                </a:solidFill>
                <a:latin typeface="IBM Plex Sans" pitchFamily="34" charset="0"/>
                <a:ea typeface="IBM Plex Sans" pitchFamily="34" charset="-122"/>
                <a:cs typeface="IBM Plex Sans" pitchFamily="34" charset="-120"/>
              </a:rPr>
              <a:t>Underwriters see the overnight changes in Professional 360</a:t>
            </a:r>
            <a:endParaRPr lang="en-US" sz="1600" dirty="0"/>
          </a:p>
        </p:txBody>
      </p:sp>
      <p:sp>
        <p:nvSpPr>
          <p:cNvPr id="18" name="Shape 16"/>
          <p:cNvSpPr/>
          <p:nvPr/>
        </p:nvSpPr>
        <p:spPr>
          <a:xfrm>
            <a:off x="815975" y="3477766"/>
            <a:ext cx="10560050" cy="981670"/>
          </a:xfrm>
          <a:prstGeom prst="roundRect">
            <a:avLst>
              <a:gd name="adj" fmla="val 10026"/>
            </a:avLst>
          </a:prstGeom>
          <a:solidFill>
            <a:srgbClr val="FDFCF9"/>
          </a:solidFill>
          <a:ln w="6350">
            <a:solidFill>
              <a:srgbClr val="DDD8CD"/>
            </a:solidFill>
            <a:prstDash val="solid"/>
          </a:ln>
        </p:spPr>
      </p:sp>
      <p:pic>
        <p:nvPicPr>
          <p:cNvPr id="19" name="Image 0" descr="Lightning">    </p:cNvPr>
          <p:cNvPicPr>
            <a:picLocks noChangeAspect="1"/>
          </p:cNvPicPr>
          <p:nvPr/>
        </p:nvPicPr>
        <p:blipFill>
          <a:blip r:embed="rId1"/>
          <a:srcRect l="-221" r="-221" t="0" b="0"/>
          <a:stretch/>
        </p:blipFill>
        <p:spPr>
          <a:xfrm>
            <a:off x="1073150" y="3790801"/>
            <a:ext cx="293390" cy="355600"/>
          </a:xfrm>
          <a:prstGeom prst="rect">
            <a:avLst/>
          </a:prstGeom>
        </p:spPr>
      </p:pic>
      <p:sp>
        <p:nvSpPr>
          <p:cNvPr id="20" name="Text 17"/>
          <p:cNvSpPr/>
          <p:nvPr/>
        </p:nvSpPr>
        <p:spPr>
          <a:xfrm>
            <a:off x="1569740" y="3684141"/>
            <a:ext cx="983558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On most nights most companies have nothing new. Only what changed is processed again, so a normal night is short and cheap.</a:t>
            </a:r>
            <a:endParaRPr lang="en-US" sz="1600" dirty="0"/>
          </a:p>
        </p:txBody>
      </p:sp>
      <p:sp>
        <p:nvSpPr>
          <p:cNvPr id="21"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22"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What the nightly run does, in order</a:t>
            </a:r>
            <a:endParaRPr lang="en-US" sz="3600" dirty="0"/>
          </a:p>
        </p:txBody>
      </p:sp>
      <p:sp>
        <p:nvSpPr>
          <p:cNvPr id="3" name="Shape 1"/>
          <p:cNvSpPr/>
          <p:nvPr/>
        </p:nvSpPr>
        <p:spPr>
          <a:xfrm>
            <a:off x="815975" y="1623665"/>
            <a:ext cx="2520950" cy="1657846"/>
          </a:xfrm>
          <a:prstGeom prst="roundRect">
            <a:avLst>
              <a:gd name="adj" fmla="val 5937"/>
            </a:avLst>
          </a:prstGeom>
          <a:solidFill>
            <a:srgbClr val="FDFCF9"/>
          </a:solidFill>
          <a:ln w="6350">
            <a:solidFill>
              <a:srgbClr val="DDD8CD"/>
            </a:solidFill>
            <a:prstDash val="solid"/>
          </a:ln>
        </p:spPr>
      </p:sp>
      <p:sp>
        <p:nvSpPr>
          <p:cNvPr id="4" name="Text 2"/>
          <p:cNvSpPr/>
          <p:nvPr/>
        </p:nvSpPr>
        <p:spPr>
          <a:xfrm>
            <a:off x="1022350" y="1830040"/>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1</a:t>
            </a:r>
            <a:endParaRPr lang="en-US" sz="2200" dirty="0"/>
          </a:p>
        </p:txBody>
      </p:sp>
      <p:sp>
        <p:nvSpPr>
          <p:cNvPr id="5" name="Text 3"/>
          <p:cNvSpPr/>
          <p:nvPr/>
        </p:nvSpPr>
        <p:spPr>
          <a:xfrm>
            <a:off x="1276945" y="1871315"/>
            <a:ext cx="144440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Check filings</a:t>
            </a:r>
            <a:endParaRPr lang="en-US" sz="1600" dirty="0"/>
          </a:p>
        </p:txBody>
      </p:sp>
      <p:sp>
        <p:nvSpPr>
          <p:cNvPr id="6" name="Text 4"/>
          <p:cNvSpPr/>
          <p:nvPr/>
        </p:nvSpPr>
        <p:spPr>
          <a:xfrm>
            <a:off x="1022350" y="2191345"/>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Find each company’s new SEC filings and refresh its profile</a:t>
            </a:r>
            <a:endParaRPr lang="en-US" sz="1200" dirty="0"/>
          </a:p>
        </p:txBody>
      </p:sp>
      <p:sp>
        <p:nvSpPr>
          <p:cNvPr id="7" name="Shape 5"/>
          <p:cNvSpPr/>
          <p:nvPr/>
        </p:nvSpPr>
        <p:spPr>
          <a:xfrm>
            <a:off x="3495675" y="1623665"/>
            <a:ext cx="2520950" cy="1657846"/>
          </a:xfrm>
          <a:prstGeom prst="roundRect">
            <a:avLst>
              <a:gd name="adj" fmla="val 5937"/>
            </a:avLst>
          </a:prstGeom>
          <a:solidFill>
            <a:srgbClr val="FDFCF9"/>
          </a:solidFill>
          <a:ln w="6350">
            <a:solidFill>
              <a:srgbClr val="DDD8CD"/>
            </a:solidFill>
            <a:prstDash val="solid"/>
          </a:ln>
        </p:spPr>
      </p:sp>
      <p:sp>
        <p:nvSpPr>
          <p:cNvPr id="8" name="Text 6"/>
          <p:cNvSpPr/>
          <p:nvPr/>
        </p:nvSpPr>
        <p:spPr>
          <a:xfrm>
            <a:off x="3702050" y="1830040"/>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2</a:t>
            </a:r>
            <a:endParaRPr lang="en-US" sz="2200" dirty="0"/>
          </a:p>
        </p:txBody>
      </p:sp>
      <p:sp>
        <p:nvSpPr>
          <p:cNvPr id="9" name="Text 7"/>
          <p:cNvSpPr/>
          <p:nvPr/>
        </p:nvSpPr>
        <p:spPr>
          <a:xfrm>
            <a:off x="3956645" y="1871315"/>
            <a:ext cx="197619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Update financials</a:t>
            </a:r>
            <a:endParaRPr lang="en-US" sz="1600" dirty="0"/>
          </a:p>
        </p:txBody>
      </p:sp>
      <p:sp>
        <p:nvSpPr>
          <p:cNvPr id="10" name="Text 8"/>
          <p:cNvSpPr/>
          <p:nvPr/>
        </p:nvSpPr>
        <p:spPr>
          <a:xfrm>
            <a:off x="3702050" y="2191345"/>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Recompute 5 years and 8 quarters of metrics from the filings</a:t>
            </a:r>
            <a:endParaRPr lang="en-US" sz="1200" dirty="0"/>
          </a:p>
        </p:txBody>
      </p:sp>
      <p:sp>
        <p:nvSpPr>
          <p:cNvPr id="11" name="Shape 9"/>
          <p:cNvSpPr/>
          <p:nvPr/>
        </p:nvSpPr>
        <p:spPr>
          <a:xfrm>
            <a:off x="6175375" y="1623665"/>
            <a:ext cx="2520950" cy="1657846"/>
          </a:xfrm>
          <a:prstGeom prst="roundRect">
            <a:avLst>
              <a:gd name="adj" fmla="val 5937"/>
            </a:avLst>
          </a:prstGeom>
          <a:solidFill>
            <a:srgbClr val="FDFCF9"/>
          </a:solidFill>
          <a:ln w="6350">
            <a:solidFill>
              <a:srgbClr val="DDD8CD"/>
            </a:solidFill>
            <a:prstDash val="solid"/>
          </a:ln>
        </p:spPr>
      </p:sp>
      <p:sp>
        <p:nvSpPr>
          <p:cNvPr id="12" name="Text 10"/>
          <p:cNvSpPr/>
          <p:nvPr/>
        </p:nvSpPr>
        <p:spPr>
          <a:xfrm>
            <a:off x="6381750" y="1830040"/>
            <a:ext cx="203448"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3</a:t>
            </a:r>
            <a:endParaRPr lang="en-US" sz="2200" dirty="0"/>
          </a:p>
        </p:txBody>
      </p:sp>
      <p:sp>
        <p:nvSpPr>
          <p:cNvPr id="13" name="Text 11"/>
          <p:cNvSpPr/>
          <p:nvPr/>
        </p:nvSpPr>
        <p:spPr>
          <a:xfrm>
            <a:off x="6635998" y="1871315"/>
            <a:ext cx="1909571"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Market and insiders</a:t>
            </a:r>
            <a:endParaRPr lang="en-US" sz="1600" dirty="0"/>
          </a:p>
        </p:txBody>
      </p:sp>
      <p:sp>
        <p:nvSpPr>
          <p:cNvPr id="14" name="Text 12"/>
          <p:cNvSpPr/>
          <p:nvPr/>
        </p:nvSpPr>
        <p:spPr>
          <a:xfrm>
            <a:off x="6381750" y="2435175"/>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Share prices, earnings versus estimates, insider trades (Form 4)</a:t>
            </a:r>
            <a:endParaRPr lang="en-US" sz="1200" dirty="0"/>
          </a:p>
        </p:txBody>
      </p:sp>
      <p:sp>
        <p:nvSpPr>
          <p:cNvPr id="15" name="Shape 13"/>
          <p:cNvSpPr/>
          <p:nvPr/>
        </p:nvSpPr>
        <p:spPr>
          <a:xfrm>
            <a:off x="8855075" y="1623665"/>
            <a:ext cx="2520950" cy="1657846"/>
          </a:xfrm>
          <a:prstGeom prst="roundRect">
            <a:avLst>
              <a:gd name="adj" fmla="val 5937"/>
            </a:avLst>
          </a:prstGeom>
          <a:solidFill>
            <a:srgbClr val="FDFCF9"/>
          </a:solidFill>
          <a:ln w="6350">
            <a:solidFill>
              <a:srgbClr val="DDD8CD"/>
            </a:solidFill>
            <a:prstDash val="solid"/>
          </a:ln>
        </p:spPr>
      </p:sp>
      <p:sp>
        <p:nvSpPr>
          <p:cNvPr id="16" name="Text 14"/>
          <p:cNvSpPr/>
          <p:nvPr/>
        </p:nvSpPr>
        <p:spPr>
          <a:xfrm>
            <a:off x="9061450" y="1830040"/>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4</a:t>
            </a:r>
            <a:endParaRPr lang="en-US" sz="2200" dirty="0"/>
          </a:p>
        </p:txBody>
      </p:sp>
      <p:sp>
        <p:nvSpPr>
          <p:cNvPr id="17" name="Text 15"/>
          <p:cNvSpPr/>
          <p:nvPr/>
        </p:nvSpPr>
        <p:spPr>
          <a:xfrm>
            <a:off x="9316045" y="1871315"/>
            <a:ext cx="18948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Read documents</a:t>
            </a:r>
            <a:endParaRPr lang="en-US" sz="1600" dirty="0"/>
          </a:p>
        </p:txBody>
      </p:sp>
      <p:sp>
        <p:nvSpPr>
          <p:cNvPr id="18" name="Text 16"/>
          <p:cNvSpPr/>
          <p:nvPr/>
        </p:nvSpPr>
        <p:spPr>
          <a:xfrm>
            <a:off x="9061450" y="2191345"/>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AI reads new filings, earnings releases and call transcripts</a:t>
            </a:r>
            <a:endParaRPr lang="en-US" sz="1200" dirty="0"/>
          </a:p>
        </p:txBody>
      </p:sp>
      <p:sp>
        <p:nvSpPr>
          <p:cNvPr id="19" name="Shape 17"/>
          <p:cNvSpPr/>
          <p:nvPr/>
        </p:nvSpPr>
        <p:spPr>
          <a:xfrm>
            <a:off x="815975" y="3440261"/>
            <a:ext cx="2520950" cy="1414016"/>
          </a:xfrm>
          <a:prstGeom prst="roundRect">
            <a:avLst>
              <a:gd name="adj" fmla="val 6961"/>
            </a:avLst>
          </a:prstGeom>
          <a:solidFill>
            <a:srgbClr val="FDFCF9"/>
          </a:solidFill>
          <a:ln w="6350">
            <a:solidFill>
              <a:srgbClr val="DDD8CD"/>
            </a:solidFill>
            <a:prstDash val="solid"/>
          </a:ln>
        </p:spPr>
      </p:sp>
      <p:sp>
        <p:nvSpPr>
          <p:cNvPr id="20" name="Text 18"/>
          <p:cNvSpPr/>
          <p:nvPr/>
        </p:nvSpPr>
        <p:spPr>
          <a:xfrm>
            <a:off x="1022350" y="3646636"/>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5</a:t>
            </a:r>
            <a:endParaRPr lang="en-US" sz="2200" dirty="0"/>
          </a:p>
        </p:txBody>
      </p:sp>
      <p:sp>
        <p:nvSpPr>
          <p:cNvPr id="21" name="Text 19"/>
          <p:cNvSpPr/>
          <p:nvPr/>
        </p:nvSpPr>
        <p:spPr>
          <a:xfrm>
            <a:off x="1276945" y="3687911"/>
            <a:ext cx="15987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Detect signals</a:t>
            </a:r>
            <a:endParaRPr lang="en-US" sz="1600" dirty="0"/>
          </a:p>
        </p:txBody>
      </p:sp>
      <p:sp>
        <p:nvSpPr>
          <p:cNvPr id="22" name="Text 20"/>
          <p:cNvSpPr/>
          <p:nvPr/>
        </p:nvSpPr>
        <p:spPr>
          <a:xfrm>
            <a:off x="1022350" y="400794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Fixed rules flag the events that drive D&amp;O claims</a:t>
            </a:r>
            <a:endParaRPr lang="en-US" sz="1200" dirty="0"/>
          </a:p>
        </p:txBody>
      </p:sp>
      <p:sp>
        <p:nvSpPr>
          <p:cNvPr id="23" name="Shape 21"/>
          <p:cNvSpPr/>
          <p:nvPr/>
        </p:nvSpPr>
        <p:spPr>
          <a:xfrm>
            <a:off x="3495675" y="3440261"/>
            <a:ext cx="2520950" cy="1414016"/>
          </a:xfrm>
          <a:prstGeom prst="roundRect">
            <a:avLst>
              <a:gd name="adj" fmla="val 6961"/>
            </a:avLst>
          </a:prstGeom>
          <a:solidFill>
            <a:srgbClr val="FDFCF9"/>
          </a:solidFill>
          <a:ln w="6350">
            <a:solidFill>
              <a:srgbClr val="DDD8CD"/>
            </a:solidFill>
            <a:prstDash val="solid"/>
          </a:ln>
        </p:spPr>
      </p:sp>
      <p:sp>
        <p:nvSpPr>
          <p:cNvPr id="24" name="Text 22"/>
          <p:cNvSpPr/>
          <p:nvPr/>
        </p:nvSpPr>
        <p:spPr>
          <a:xfrm>
            <a:off x="3702050" y="3646636"/>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6</a:t>
            </a:r>
            <a:endParaRPr lang="en-US" sz="2200" dirty="0"/>
          </a:p>
        </p:txBody>
      </p:sp>
      <p:sp>
        <p:nvSpPr>
          <p:cNvPr id="25" name="Text 23"/>
          <p:cNvSpPr/>
          <p:nvPr/>
        </p:nvSpPr>
        <p:spPr>
          <a:xfrm>
            <a:off x="3956645" y="3687911"/>
            <a:ext cx="156394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Write insights</a:t>
            </a:r>
            <a:endParaRPr lang="en-US" sz="1600" dirty="0"/>
          </a:p>
        </p:txBody>
      </p:sp>
      <p:sp>
        <p:nvSpPr>
          <p:cNvPr id="26" name="Text 24"/>
          <p:cNvSpPr/>
          <p:nvPr/>
        </p:nvSpPr>
        <p:spPr>
          <a:xfrm>
            <a:off x="3702050" y="4007941"/>
            <a:ext cx="217144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AI drafts summaries and follow-up questions, each with its sources</a:t>
            </a:r>
            <a:endParaRPr lang="en-US" sz="1200" dirty="0"/>
          </a:p>
        </p:txBody>
      </p:sp>
      <p:sp>
        <p:nvSpPr>
          <p:cNvPr id="27" name="Shape 25"/>
          <p:cNvSpPr/>
          <p:nvPr/>
        </p:nvSpPr>
        <p:spPr>
          <a:xfrm>
            <a:off x="6175375" y="3440261"/>
            <a:ext cx="2520950" cy="1414016"/>
          </a:xfrm>
          <a:prstGeom prst="roundRect">
            <a:avLst>
              <a:gd name="adj" fmla="val 6961"/>
            </a:avLst>
          </a:prstGeom>
          <a:solidFill>
            <a:srgbClr val="FDFCF9"/>
          </a:solidFill>
          <a:ln w="6350">
            <a:solidFill>
              <a:srgbClr val="DDD8CD"/>
            </a:solidFill>
            <a:prstDash val="solid"/>
          </a:ln>
        </p:spPr>
      </p:sp>
      <p:sp>
        <p:nvSpPr>
          <p:cNvPr id="28" name="Text 26"/>
          <p:cNvSpPr/>
          <p:nvPr/>
        </p:nvSpPr>
        <p:spPr>
          <a:xfrm>
            <a:off x="6381750" y="3646636"/>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7</a:t>
            </a:r>
            <a:endParaRPr lang="en-US" sz="2200" dirty="0"/>
          </a:p>
        </p:txBody>
      </p:sp>
      <p:sp>
        <p:nvSpPr>
          <p:cNvPr id="29" name="Text 27"/>
          <p:cNvSpPr/>
          <p:nvPr/>
        </p:nvSpPr>
        <p:spPr>
          <a:xfrm>
            <a:off x="6636345" y="3687911"/>
            <a:ext cx="84974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Publish</a:t>
            </a:r>
            <a:endParaRPr lang="en-US" sz="1600" dirty="0"/>
          </a:p>
        </p:txBody>
      </p:sp>
      <p:sp>
        <p:nvSpPr>
          <p:cNvPr id="30" name="Text 28"/>
          <p:cNvSpPr/>
          <p:nvPr/>
        </p:nvSpPr>
        <p:spPr>
          <a:xfrm>
            <a:off x="6381750" y="400794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Load the results into Professional 360</a:t>
            </a:r>
            <a:endParaRPr lang="en-US" sz="1200" dirty="0"/>
          </a:p>
        </p:txBody>
      </p:sp>
      <p:sp>
        <p:nvSpPr>
          <p:cNvPr id="31" name="Shape 29"/>
          <p:cNvSpPr/>
          <p:nvPr/>
        </p:nvSpPr>
        <p:spPr>
          <a:xfrm>
            <a:off x="8855075" y="3440261"/>
            <a:ext cx="2520950" cy="1414016"/>
          </a:xfrm>
          <a:prstGeom prst="roundRect">
            <a:avLst>
              <a:gd name="adj" fmla="val 6961"/>
            </a:avLst>
          </a:prstGeom>
          <a:solidFill>
            <a:srgbClr val="FDFCF9"/>
          </a:solidFill>
          <a:ln w="6350">
            <a:solidFill>
              <a:srgbClr val="DDD8CD"/>
            </a:solidFill>
            <a:prstDash val="solid"/>
          </a:ln>
        </p:spPr>
      </p:sp>
      <p:sp>
        <p:nvSpPr>
          <p:cNvPr id="32" name="Text 30"/>
          <p:cNvSpPr/>
          <p:nvPr/>
        </p:nvSpPr>
        <p:spPr>
          <a:xfrm>
            <a:off x="9061450" y="3646636"/>
            <a:ext cx="203795"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A8540F"/>
                </a:solidFill>
                <a:latin typeface="Source Serif 4" pitchFamily="18" charset="0"/>
                <a:ea typeface="Source Serif 4" pitchFamily="18" charset="-122"/>
                <a:cs typeface="Source Serif 4" pitchFamily="18" charset="-120"/>
              </a:rPr>
              <a:t>8</a:t>
            </a:r>
            <a:endParaRPr lang="en-US" sz="2200" dirty="0"/>
          </a:p>
        </p:txBody>
      </p:sp>
      <p:sp>
        <p:nvSpPr>
          <p:cNvPr id="33" name="Text 31"/>
          <p:cNvSpPr/>
          <p:nvPr/>
        </p:nvSpPr>
        <p:spPr>
          <a:xfrm>
            <a:off x="9316045" y="3687911"/>
            <a:ext cx="15391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Check quality</a:t>
            </a:r>
            <a:endParaRPr lang="en-US" sz="1600" dirty="0"/>
          </a:p>
        </p:txBody>
      </p:sp>
      <p:sp>
        <p:nvSpPr>
          <p:cNvPr id="34" name="Text 32"/>
          <p:cNvSpPr/>
          <p:nvPr/>
        </p:nvSpPr>
        <p:spPr>
          <a:xfrm>
            <a:off x="9061450" y="400794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Data-quality report; anything doubtful goes to review</a:t>
            </a:r>
            <a:endParaRPr lang="en-US" sz="1200" dirty="0"/>
          </a:p>
        </p:txBody>
      </p:sp>
      <p:sp>
        <p:nvSpPr>
          <p:cNvPr id="35" name="Text 33"/>
          <p:cNvSpPr/>
          <p:nvPr/>
        </p:nvSpPr>
        <p:spPr>
          <a:xfrm>
            <a:off x="812800" y="516225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Each step runs company by company: a problem with one company does not stop the others.</a:t>
            </a:r>
            <a:endParaRPr lang="en-US" sz="1600" dirty="0"/>
          </a:p>
        </p:txBody>
      </p:sp>
      <p:sp>
        <p:nvSpPr>
          <p:cNvPr id="36" name="Text 3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37" name="Text 3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Earnings season: what updates when</a:t>
            </a:r>
            <a:endParaRPr lang="en-US" sz="3600" dirty="0"/>
          </a:p>
        </p:txBody>
      </p:sp>
      <p:sp>
        <p:nvSpPr>
          <p:cNvPr id="3" name="Shape 1"/>
          <p:cNvSpPr/>
          <p:nvPr/>
        </p:nvSpPr>
        <p:spPr>
          <a:xfrm>
            <a:off x="815975" y="1674465"/>
            <a:ext cx="3075484" cy="2820442"/>
          </a:xfrm>
          <a:prstGeom prst="roundRect">
            <a:avLst>
              <a:gd name="adj" fmla="val 3490"/>
            </a:avLst>
          </a:prstGeom>
          <a:solidFill>
            <a:srgbClr val="FDFCF9"/>
          </a:solidFill>
          <a:ln w="6350">
            <a:solidFill>
              <a:srgbClr val="DDD8CD"/>
            </a:solidFill>
            <a:prstDash val="solid"/>
          </a:ln>
        </p:spPr>
      </p:sp>
      <p:sp>
        <p:nvSpPr>
          <p:cNvPr id="4" name="Text 2"/>
          <p:cNvSpPr/>
          <p:nvPr/>
        </p:nvSpPr>
        <p:spPr>
          <a:xfrm>
            <a:off x="1073150" y="1931640"/>
            <a:ext cx="26379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40F"/>
                </a:solidFill>
                <a:latin typeface="IBM Plex Sans" pitchFamily="34" charset="0"/>
                <a:ea typeface="IBM Plex Sans" pitchFamily="34" charset="-122"/>
                <a:cs typeface="IBM Plex Sans" pitchFamily="34" charset="-120"/>
              </a:rPr>
              <a:t>EARNINGS DAY</a:t>
            </a:r>
            <a:endParaRPr lang="en-US" sz="1200" dirty="0"/>
          </a:p>
        </p:txBody>
      </p:sp>
      <p:sp>
        <p:nvSpPr>
          <p:cNvPr id="5" name="Text 3"/>
          <p:cNvSpPr/>
          <p:nvPr/>
        </p:nvSpPr>
        <p:spPr>
          <a:xfrm>
            <a:off x="1073150" y="2246561"/>
            <a:ext cx="26379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Press release (Form 8-K)</a:t>
            </a:r>
            <a:endParaRPr lang="en-US" sz="1600" dirty="0"/>
          </a:p>
        </p:txBody>
      </p:sp>
      <p:sp>
        <p:nvSpPr>
          <p:cNvPr id="6" name="Text 4"/>
          <p:cNvSpPr/>
          <p:nvPr/>
        </p:nvSpPr>
        <p:spPr>
          <a:xfrm>
            <a:off x="1130808" y="2591991"/>
            <a:ext cx="2572690" cy="1671141"/>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That night: preliminary revenue, net income, operating income</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Earnings per share versus estimates</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Refreshed insight</a:t>
            </a:r>
            <a:endParaRPr lang="en-US" sz="1600" dirty="0"/>
          </a:p>
        </p:txBody>
      </p:sp>
      <p:pic>
        <p:nvPicPr>
          <p:cNvPr id="7" name="Image 0" descr="arrow-right">    </p:cNvPr>
          <p:cNvPicPr>
            <a:picLocks noChangeAspect="1"/>
          </p:cNvPicPr>
          <p:nvPr/>
        </p:nvPicPr>
        <p:blipFill>
          <a:blip r:embed="rId1"/>
          <a:srcRect l="0" r="0" t="0" b="0"/>
          <a:stretch/>
        </p:blipFill>
        <p:spPr>
          <a:xfrm>
            <a:off x="4047034" y="2995761"/>
            <a:ext cx="355600" cy="177800"/>
          </a:xfrm>
          <a:prstGeom prst="rect">
            <a:avLst/>
          </a:prstGeom>
        </p:spPr>
      </p:pic>
      <p:sp>
        <p:nvSpPr>
          <p:cNvPr id="8" name="Shape 5"/>
          <p:cNvSpPr/>
          <p:nvPr/>
        </p:nvSpPr>
        <p:spPr>
          <a:xfrm>
            <a:off x="4558209" y="1674465"/>
            <a:ext cx="3075533" cy="2820442"/>
          </a:xfrm>
          <a:prstGeom prst="roundRect">
            <a:avLst>
              <a:gd name="adj" fmla="val 3490"/>
            </a:avLst>
          </a:prstGeom>
          <a:solidFill>
            <a:srgbClr val="FDFCF9"/>
          </a:solidFill>
          <a:ln w="6350">
            <a:solidFill>
              <a:srgbClr val="DDD8CD"/>
            </a:solidFill>
            <a:prstDash val="solid"/>
          </a:ln>
        </p:spPr>
      </p:sp>
      <p:sp>
        <p:nvSpPr>
          <p:cNvPr id="9" name="Text 6"/>
          <p:cNvSpPr/>
          <p:nvPr/>
        </p:nvSpPr>
        <p:spPr>
          <a:xfrm>
            <a:off x="4815384" y="1931640"/>
            <a:ext cx="26380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5C9E"/>
                </a:solidFill>
                <a:latin typeface="IBM Plex Sans" pitchFamily="34" charset="0"/>
                <a:ea typeface="IBM Plex Sans" pitchFamily="34" charset="-122"/>
                <a:cs typeface="IBM Plex Sans" pitchFamily="34" charset="-120"/>
              </a:rPr>
              <a:t>NEXT TRADING DAYS</a:t>
            </a:r>
            <a:endParaRPr lang="en-US" sz="1200" dirty="0"/>
          </a:p>
        </p:txBody>
      </p:sp>
      <p:sp>
        <p:nvSpPr>
          <p:cNvPr id="10" name="Text 7"/>
          <p:cNvSpPr/>
          <p:nvPr/>
        </p:nvSpPr>
        <p:spPr>
          <a:xfrm>
            <a:off x="4815384" y="2246561"/>
            <a:ext cx="263801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Market reaction</a:t>
            </a:r>
            <a:endParaRPr lang="en-US" sz="1600" dirty="0"/>
          </a:p>
        </p:txBody>
      </p:sp>
      <p:sp>
        <p:nvSpPr>
          <p:cNvPr id="11" name="Text 8"/>
          <p:cNvSpPr/>
          <p:nvPr/>
        </p:nvSpPr>
        <p:spPr>
          <a:xfrm>
            <a:off x="4873042" y="2591991"/>
            <a:ext cx="2572741" cy="1671141"/>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Stock drop: down 10%+ in a day and 8+ points below the market</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Earnings miss: down 8%+ within 3 trading days</a:t>
            </a:r>
            <a:endParaRPr lang="en-US" sz="1600" dirty="0"/>
          </a:p>
        </p:txBody>
      </p:sp>
      <p:pic>
        <p:nvPicPr>
          <p:cNvPr id="12" name="Image 1" descr="arrow-right">    </p:cNvPr>
          <p:cNvPicPr>
            <a:picLocks noChangeAspect="1"/>
          </p:cNvPicPr>
          <p:nvPr/>
        </p:nvPicPr>
        <p:blipFill>
          <a:blip r:embed="rId2"/>
          <a:srcRect l="0" r="0" t="0" b="0"/>
          <a:stretch/>
        </p:blipFill>
        <p:spPr>
          <a:xfrm>
            <a:off x="7789317" y="2995761"/>
            <a:ext cx="355600" cy="177800"/>
          </a:xfrm>
          <a:prstGeom prst="rect">
            <a:avLst/>
          </a:prstGeom>
        </p:spPr>
      </p:pic>
      <p:sp>
        <p:nvSpPr>
          <p:cNvPr id="13" name="Shape 9"/>
          <p:cNvSpPr/>
          <p:nvPr/>
        </p:nvSpPr>
        <p:spPr>
          <a:xfrm>
            <a:off x="8300492" y="1674465"/>
            <a:ext cx="3075533" cy="2820442"/>
          </a:xfrm>
          <a:prstGeom prst="roundRect">
            <a:avLst>
              <a:gd name="adj" fmla="val 3490"/>
            </a:avLst>
          </a:prstGeom>
          <a:solidFill>
            <a:srgbClr val="FDFCF9"/>
          </a:solidFill>
          <a:ln w="6350">
            <a:solidFill>
              <a:srgbClr val="DDD8CD"/>
            </a:solidFill>
            <a:prstDash val="solid"/>
          </a:ln>
        </p:spPr>
      </p:sp>
      <p:sp>
        <p:nvSpPr>
          <p:cNvPr id="14" name="Text 10"/>
          <p:cNvSpPr/>
          <p:nvPr/>
        </p:nvSpPr>
        <p:spPr>
          <a:xfrm>
            <a:off x="8557667" y="1931640"/>
            <a:ext cx="263801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IBM Plex Sans" pitchFamily="34" charset="0"/>
                <a:ea typeface="IBM Plex Sans" pitchFamily="34" charset="-122"/>
                <a:cs typeface="IBM Plex Sans" pitchFamily="34" charset="-120"/>
              </a:rPr>
              <a:t>1–5 WEEKS LATER</a:t>
            </a:r>
            <a:endParaRPr lang="en-US" sz="1200" dirty="0"/>
          </a:p>
        </p:txBody>
      </p:sp>
      <p:sp>
        <p:nvSpPr>
          <p:cNvPr id="15" name="Text 11"/>
          <p:cNvSpPr/>
          <p:nvPr/>
        </p:nvSpPr>
        <p:spPr>
          <a:xfrm>
            <a:off x="8557667" y="2246561"/>
            <a:ext cx="2638019" cy="51306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Quarterly or annual report (10-Q / 10-K)</a:t>
            </a:r>
            <a:endParaRPr lang="en-US" sz="1600" dirty="0"/>
          </a:p>
        </p:txBody>
      </p:sp>
      <p:sp>
        <p:nvSpPr>
          <p:cNvPr id="16" name="Text 12"/>
          <p:cNvSpPr/>
          <p:nvPr/>
        </p:nvSpPr>
        <p:spPr>
          <a:xfrm>
            <a:off x="8615325" y="2835821"/>
            <a:ext cx="2572741" cy="1122561"/>
          </a:xfrm>
          <a:prstGeom prst="rect">
            <a:avLst/>
          </a:prstGeom>
          <a:noFill/>
          <a:ln/>
        </p:spPr>
        <p:txBody>
          <a:bodyPr wrap="square" lIns="0" tIns="0" rIns="0" bIns="0" rtlCol="0" anchor="t">
            <a:normAutofit/>
          </a:bodyPr>
          <a:lstStyle/>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Full statements replace the preliminary figures</a:t>
            </a:r>
            <a:endParaRPr lang="en-US" sz="1600" dirty="0"/>
          </a:p>
          <a:p>
            <a:pPr algn="l" marL="196342" indent="-196342">
              <a:lnSpc>
                <a:spcPts val="2160"/>
              </a:lnSpc>
              <a:buSzPct val="100000"/>
              <a:buChar char="•"/>
            </a:pPr>
            <a:r>
              <a:rPr lang="en-US" sz="1600" dirty="0">
                <a:solidFill>
                  <a:srgbClr val="3D4A5C"/>
                </a:solidFill>
                <a:latin typeface="IBM Plex Sans" pitchFamily="34" charset="0"/>
                <a:ea typeface="IBM Plex Sans" pitchFamily="34" charset="-122"/>
                <a:cs typeface="IBM Plex Sans" pitchFamily="34" charset="-120"/>
              </a:rPr>
              <a:t>All metrics, signals and insights refreshed</a:t>
            </a:r>
            <a:endParaRPr lang="en-US" sz="1600" dirty="0"/>
          </a:p>
        </p:txBody>
      </p:sp>
      <p:sp>
        <p:nvSpPr>
          <p:cNvPr id="17" name="Shape 13"/>
          <p:cNvSpPr/>
          <p:nvPr/>
        </p:nvSpPr>
        <p:spPr>
          <a:xfrm>
            <a:off x="831850" y="4853682"/>
            <a:ext cx="0" cy="386060"/>
          </a:xfrm>
          <a:prstGeom prst="line">
            <a:avLst/>
          </a:prstGeom>
          <a:noFill/>
          <a:ln w="38100">
            <a:solidFill>
              <a:srgbClr val="A8540F"/>
            </a:solidFill>
            <a:prstDash val="solid"/>
          </a:ln>
        </p:spPr>
      </p:sp>
      <p:sp>
        <p:nvSpPr>
          <p:cNvPr id="18" name="Text 14"/>
          <p:cNvSpPr/>
          <p:nvPr/>
        </p:nvSpPr>
        <p:spPr>
          <a:xfrm>
            <a:off x="1054100" y="4904482"/>
            <a:ext cx="106348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Until the report is filed, the press-release figures stay marked as preliminary.</a:t>
            </a:r>
            <a:endParaRPr lang="en-US" sz="1600" dirty="0"/>
          </a:p>
        </p:txBody>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20"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Risk signals we watch for</a:t>
            </a:r>
            <a:endParaRPr lang="en-US" sz="3600" dirty="0"/>
          </a:p>
        </p:txBody>
      </p:sp>
      <p:sp>
        <p:nvSpPr>
          <p:cNvPr id="3" name="Shape 1"/>
          <p:cNvSpPr/>
          <p:nvPr/>
        </p:nvSpPr>
        <p:spPr>
          <a:xfrm>
            <a:off x="812800" y="1626840"/>
            <a:ext cx="10566400" cy="0"/>
          </a:xfrm>
          <a:prstGeom prst="line">
            <a:avLst/>
          </a:prstGeom>
          <a:noFill/>
          <a:ln w="12700">
            <a:solidFill>
              <a:srgbClr val="141413">
                <a:alpha val="22000"/>
              </a:srgbClr>
            </a:solidFill>
            <a:prstDash val="solid"/>
          </a:ln>
        </p:spPr>
      </p:sp>
      <p:sp>
        <p:nvSpPr>
          <p:cNvPr id="4" name="Shape 2"/>
          <p:cNvSpPr/>
          <p:nvPr/>
        </p:nvSpPr>
        <p:spPr>
          <a:xfrm>
            <a:off x="819150" y="1620490"/>
            <a:ext cx="0" cy="3278584"/>
          </a:xfrm>
          <a:prstGeom prst="line">
            <a:avLst/>
          </a:prstGeom>
          <a:noFill/>
          <a:ln w="12700">
            <a:solidFill>
              <a:srgbClr val="141413">
                <a:alpha val="2200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14400" y="1722090"/>
          <a:ext cx="10375900" cy="3088084"/>
        </p:xfrm>
        <a:graphic>
          <a:graphicData uri="http://schemas.openxmlformats.org/drawingml/2006/table">
            <a:tbl>
              <a:tblPr/>
              <a:tblGrid>
                <a:gridCol w="2490216"/>
                <a:gridCol w="5810504"/>
                <a:gridCol w="2075180"/>
              </a:tblGrid>
              <a:tr h="332680">
                <a:tc>
                  <a:txBody>
                    <a:bodyPr/>
                    <a:lstStyle/>
                    <a:p>
                      <a:pPr indent="0" marL="0">
                        <a:lnSpc>
                          <a:spcPts val="1680"/>
                        </a:lnSpc>
                        <a:buNone/>
                      </a:pPr>
                      <a:r>
                        <a:rPr lang="en-US" sz="1200" b="1" dirty="0">
                          <a:solidFill>
                            <a:srgbClr val="F7F5F0"/>
                          </a:solidFill>
                          <a:latin typeface="IBM Plex Sans" pitchFamily="34" charset="0"/>
                          <a:ea typeface="IBM Plex Sans" pitchFamily="34" charset="-122"/>
                          <a:cs typeface="IBM Plex Sans" pitchFamily="34" charset="-120"/>
                        </a:rPr>
                        <a:t>Driver of D&amp;O claims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5F0"/>
                          </a:solidFill>
                          <a:latin typeface="IBM Plex Sans" pitchFamily="34" charset="0"/>
                          <a:ea typeface="IBM Plex Sans" pitchFamily="34" charset="-122"/>
                          <a:cs typeface="IBM Plex Sans" pitchFamily="34" charset="-120"/>
                        </a:rPr>
                        <a:t>What raises a signal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5F0"/>
                          </a:solidFill>
                          <a:latin typeface="IBM Plex Sans" pitchFamily="34" charset="0"/>
                          <a:ea typeface="IBM Plex Sans" pitchFamily="34" charset="-122"/>
                          <a:cs typeface="IBM Plex Sans" pitchFamily="34" charset="-120"/>
                        </a:rPr>
                        <a:t>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Stock drop</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Down 10% or more in a day and 8+ points worse than the market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Daily prices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Earnings miss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Down 8% or more within 3 trading days of missing estimates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Estimates, prices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Insider selling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3+ officers or directors sell on the open market within 30 days (pre-planned sales excluded)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Form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Corporate events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Restatement, auditor change, cyber incident, impairment, delisting notice, bankruptcy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Form 8-K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Litigation and investigations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Securities class actions and regulatory matters disclosed in filings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10-K, 10-Q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Financial stress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Weak cover for debt due within a year; Altman Z-score in the distress zone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Financial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Activist stakes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 13D filing that names the company as its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Schedule 13D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Why the output can be trusted</a:t>
            </a:r>
            <a:endParaRPr lang="en-US" sz="3600" dirty="0"/>
          </a:p>
        </p:txBody>
      </p:sp>
      <p:sp>
        <p:nvSpPr>
          <p:cNvPr id="3" name="Shape 1"/>
          <p:cNvSpPr/>
          <p:nvPr/>
        </p:nvSpPr>
        <p:spPr>
          <a:xfrm>
            <a:off x="815975" y="1623665"/>
            <a:ext cx="3414167" cy="1591221"/>
          </a:xfrm>
          <a:prstGeom prst="roundRect">
            <a:avLst>
              <a:gd name="adj" fmla="val 6186"/>
            </a:avLst>
          </a:prstGeom>
          <a:solidFill>
            <a:srgbClr val="FDFCF9"/>
          </a:solidFill>
          <a:ln w="6350">
            <a:solidFill>
              <a:srgbClr val="DDD8CD"/>
            </a:solidFill>
            <a:prstDash val="solid"/>
          </a:ln>
        </p:spPr>
      </p:sp>
      <p:pic>
        <p:nvPicPr>
          <p:cNvPr id="4" name="Image 0" descr="Link">    </p:cNvPr>
          <p:cNvPicPr>
            <a:picLocks noChangeAspect="1"/>
          </p:cNvPicPr>
          <p:nvPr/>
        </p:nvPicPr>
        <p:blipFill>
          <a:blip r:embed="rId1"/>
          <a:srcRect l="0" r="0" t="0" b="0"/>
          <a:stretch/>
        </p:blipFill>
        <p:spPr>
          <a:xfrm>
            <a:off x="1047750" y="1855440"/>
            <a:ext cx="304800" cy="304800"/>
          </a:xfrm>
          <a:prstGeom prst="rect">
            <a:avLst/>
          </a:prstGeom>
        </p:spPr>
      </p:pic>
      <p:sp>
        <p:nvSpPr>
          <p:cNvPr id="5" name="Text 2"/>
          <p:cNvSpPr/>
          <p:nvPr/>
        </p:nvSpPr>
        <p:spPr>
          <a:xfrm>
            <a:off x="1047750" y="2236440"/>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Every figure has a source</a:t>
            </a:r>
            <a:endParaRPr lang="en-US" sz="1600" dirty="0"/>
          </a:p>
        </p:txBody>
      </p:sp>
      <p:sp>
        <p:nvSpPr>
          <p:cNvPr id="6" name="Text 3"/>
          <p:cNvSpPr/>
          <p:nvPr/>
        </p:nvSpPr>
        <p:spPr>
          <a:xfrm>
            <a:off x="1047750" y="2556470"/>
            <a:ext cx="30391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Each number links back to the filing, section or article it came from.</a:t>
            </a:r>
            <a:endParaRPr lang="en-US" sz="1200" dirty="0"/>
          </a:p>
        </p:txBody>
      </p:sp>
      <p:sp>
        <p:nvSpPr>
          <p:cNvPr id="7" name="Shape 4"/>
          <p:cNvSpPr/>
          <p:nvPr/>
        </p:nvSpPr>
        <p:spPr>
          <a:xfrm>
            <a:off x="4388892" y="1623665"/>
            <a:ext cx="3414167" cy="1591221"/>
          </a:xfrm>
          <a:prstGeom prst="roundRect">
            <a:avLst>
              <a:gd name="adj" fmla="val 6186"/>
            </a:avLst>
          </a:prstGeom>
          <a:solidFill>
            <a:srgbClr val="FDFCF9"/>
          </a:solidFill>
          <a:ln w="6350">
            <a:solidFill>
              <a:srgbClr val="DDD8CD"/>
            </a:solidFill>
            <a:prstDash val="solid"/>
          </a:ln>
        </p:spPr>
      </p:sp>
      <p:pic>
        <p:nvPicPr>
          <p:cNvPr id="8" name="Image 1" descr="Search">    </p:cNvPr>
          <p:cNvPicPr>
            <a:picLocks noChangeAspect="1"/>
          </p:cNvPicPr>
          <p:nvPr/>
        </p:nvPicPr>
        <p:blipFill>
          <a:blip r:embed="rId2"/>
          <a:srcRect l="0" r="0" t="0" b="0"/>
          <a:stretch/>
        </p:blipFill>
        <p:spPr>
          <a:xfrm>
            <a:off x="4620667" y="1855440"/>
            <a:ext cx="304800" cy="304800"/>
          </a:xfrm>
          <a:prstGeom prst="rect">
            <a:avLst/>
          </a:prstGeom>
        </p:spPr>
      </p:pic>
      <p:sp>
        <p:nvSpPr>
          <p:cNvPr id="9" name="Text 5"/>
          <p:cNvSpPr/>
          <p:nvPr/>
        </p:nvSpPr>
        <p:spPr>
          <a:xfrm>
            <a:off x="4620667" y="2236440"/>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AI must quote its source</a:t>
            </a:r>
            <a:endParaRPr lang="en-US" sz="1600" dirty="0"/>
          </a:p>
        </p:txBody>
      </p:sp>
      <p:sp>
        <p:nvSpPr>
          <p:cNvPr id="10" name="Text 6"/>
          <p:cNvSpPr/>
          <p:nvPr/>
        </p:nvSpPr>
        <p:spPr>
          <a:xfrm>
            <a:off x="4620667" y="2556470"/>
            <a:ext cx="30391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An AI answer is kept only if its quote and its numbers are found in the document.</a:t>
            </a:r>
            <a:endParaRPr lang="en-US" sz="1200" dirty="0"/>
          </a:p>
        </p:txBody>
      </p:sp>
      <p:sp>
        <p:nvSpPr>
          <p:cNvPr id="11" name="Shape 7"/>
          <p:cNvSpPr/>
          <p:nvPr/>
        </p:nvSpPr>
        <p:spPr>
          <a:xfrm>
            <a:off x="7961809" y="1623665"/>
            <a:ext cx="3414216" cy="1591221"/>
          </a:xfrm>
          <a:prstGeom prst="roundRect">
            <a:avLst>
              <a:gd name="adj" fmla="val 6186"/>
            </a:avLst>
          </a:prstGeom>
          <a:solidFill>
            <a:srgbClr val="FDFCF9"/>
          </a:solidFill>
          <a:ln w="6350">
            <a:solidFill>
              <a:srgbClr val="DDD8CD"/>
            </a:solidFill>
            <a:prstDash val="solid"/>
          </a:ln>
        </p:spPr>
      </p:sp>
      <p:pic>
        <p:nvPicPr>
          <p:cNvPr id="12" name="Image 2" descr="CheckCircle">    </p:cNvPr>
          <p:cNvPicPr>
            <a:picLocks noChangeAspect="1"/>
          </p:cNvPicPr>
          <p:nvPr/>
        </p:nvPicPr>
        <p:blipFill>
          <a:blip r:embed="rId3"/>
          <a:srcRect l="0" r="0" t="0" b="0"/>
          <a:stretch/>
        </p:blipFill>
        <p:spPr>
          <a:xfrm>
            <a:off x="8193584" y="1855440"/>
            <a:ext cx="304800" cy="304800"/>
          </a:xfrm>
          <a:prstGeom prst="rect">
            <a:avLst/>
          </a:prstGeom>
        </p:spPr>
      </p:pic>
      <p:sp>
        <p:nvSpPr>
          <p:cNvPr id="13" name="Text 8"/>
          <p:cNvSpPr/>
          <p:nvPr/>
        </p:nvSpPr>
        <p:spPr>
          <a:xfrm>
            <a:off x="8193584" y="2236440"/>
            <a:ext cx="30391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Read twice, must agree</a:t>
            </a:r>
            <a:endParaRPr lang="en-US" sz="1600" dirty="0"/>
          </a:p>
        </p:txBody>
      </p:sp>
      <p:sp>
        <p:nvSpPr>
          <p:cNvPr id="14" name="Text 9"/>
          <p:cNvSpPr/>
          <p:nvPr/>
        </p:nvSpPr>
        <p:spPr>
          <a:xfrm>
            <a:off x="8193584" y="2556470"/>
            <a:ext cx="30391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Figures taken from text are read twice; if the readings differ, nothing is stored.</a:t>
            </a:r>
            <a:endParaRPr lang="en-US" sz="1200" dirty="0"/>
          </a:p>
        </p:txBody>
      </p:sp>
      <p:sp>
        <p:nvSpPr>
          <p:cNvPr id="15" name="Shape 10"/>
          <p:cNvSpPr/>
          <p:nvPr/>
        </p:nvSpPr>
        <p:spPr>
          <a:xfrm>
            <a:off x="815975" y="3373636"/>
            <a:ext cx="3414167" cy="1804541"/>
          </a:xfrm>
          <a:prstGeom prst="roundRect">
            <a:avLst>
              <a:gd name="adj" fmla="val 5454"/>
            </a:avLst>
          </a:prstGeom>
          <a:solidFill>
            <a:srgbClr val="FDFCF9"/>
          </a:solidFill>
          <a:ln w="6350">
            <a:solidFill>
              <a:srgbClr val="DDD8CD"/>
            </a:solidFill>
            <a:prstDash val="solid"/>
          </a:ln>
        </p:spPr>
      </p:sp>
      <p:pic>
        <p:nvPicPr>
          <p:cNvPr id="16" name="Image 3" descr="Verified">    </p:cNvPr>
          <p:cNvPicPr>
            <a:picLocks noChangeAspect="1"/>
          </p:cNvPicPr>
          <p:nvPr/>
        </p:nvPicPr>
        <p:blipFill>
          <a:blip r:embed="rId4"/>
          <a:srcRect l="0" r="0" t="0" b="0"/>
          <a:stretch/>
        </p:blipFill>
        <p:spPr>
          <a:xfrm>
            <a:off x="1047750" y="3605411"/>
            <a:ext cx="304800" cy="304800"/>
          </a:xfrm>
          <a:prstGeom prst="rect">
            <a:avLst/>
          </a:prstGeom>
        </p:spPr>
      </p:pic>
      <p:sp>
        <p:nvSpPr>
          <p:cNvPr id="17" name="Text 11"/>
          <p:cNvSpPr/>
          <p:nvPr/>
        </p:nvSpPr>
        <p:spPr>
          <a:xfrm>
            <a:off x="1047750" y="3986411"/>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Checked against filings</a:t>
            </a:r>
            <a:endParaRPr lang="en-US" sz="1600" dirty="0"/>
          </a:p>
        </p:txBody>
      </p:sp>
      <p:sp>
        <p:nvSpPr>
          <p:cNvPr id="18" name="Text 12"/>
          <p:cNvSpPr/>
          <p:nvPr/>
        </p:nvSpPr>
        <p:spPr>
          <a:xfrm>
            <a:off x="1047750" y="4306441"/>
            <a:ext cx="30391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Automated tests compare results with figures taken by hand from 10-Ks, two companies per industry.</a:t>
            </a:r>
            <a:endParaRPr lang="en-US" sz="1200" dirty="0"/>
          </a:p>
        </p:txBody>
      </p:sp>
      <p:sp>
        <p:nvSpPr>
          <p:cNvPr id="19" name="Shape 13"/>
          <p:cNvSpPr/>
          <p:nvPr/>
        </p:nvSpPr>
        <p:spPr>
          <a:xfrm>
            <a:off x="4388892" y="3373636"/>
            <a:ext cx="3414167" cy="1804541"/>
          </a:xfrm>
          <a:prstGeom prst="roundRect">
            <a:avLst>
              <a:gd name="adj" fmla="val 5454"/>
            </a:avLst>
          </a:prstGeom>
          <a:solidFill>
            <a:srgbClr val="FDFCF9"/>
          </a:solidFill>
          <a:ln w="6350">
            <a:solidFill>
              <a:srgbClr val="DDD8CD"/>
            </a:solidFill>
            <a:prstDash val="solid"/>
          </a:ln>
        </p:spPr>
      </p:sp>
      <p:pic>
        <p:nvPicPr>
          <p:cNvPr id="20" name="Image 4" descr="Book">    </p:cNvPr>
          <p:cNvPicPr>
            <a:picLocks noChangeAspect="1"/>
          </p:cNvPicPr>
          <p:nvPr/>
        </p:nvPicPr>
        <p:blipFill>
          <a:blip r:embed="rId5"/>
          <a:srcRect l="0" r="0" t="0" b="0"/>
          <a:stretch/>
        </p:blipFill>
        <p:spPr>
          <a:xfrm>
            <a:off x="4620667" y="3605411"/>
            <a:ext cx="304800" cy="304800"/>
          </a:xfrm>
          <a:prstGeom prst="rect">
            <a:avLst/>
          </a:prstGeom>
        </p:spPr>
      </p:pic>
      <p:sp>
        <p:nvSpPr>
          <p:cNvPr id="21" name="Text 14"/>
          <p:cNvSpPr/>
          <p:nvPr/>
        </p:nvSpPr>
        <p:spPr>
          <a:xfrm>
            <a:off x="4620667" y="3986411"/>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Every gap explained</a:t>
            </a:r>
            <a:endParaRPr lang="en-US" sz="1600" dirty="0"/>
          </a:p>
        </p:txBody>
      </p:sp>
      <p:sp>
        <p:nvSpPr>
          <p:cNvPr id="22" name="Text 15"/>
          <p:cNvSpPr/>
          <p:nvPr/>
        </p:nvSpPr>
        <p:spPr>
          <a:xfrm>
            <a:off x="4620667" y="4306441"/>
            <a:ext cx="30391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 missing metric needs a written reason, such as “software companies hold no inventory”.</a:t>
            </a:r>
            <a:endParaRPr lang="en-US" sz="1200" dirty="0"/>
          </a:p>
        </p:txBody>
      </p:sp>
      <p:sp>
        <p:nvSpPr>
          <p:cNvPr id="23" name="Shape 16"/>
          <p:cNvSpPr/>
          <p:nvPr/>
        </p:nvSpPr>
        <p:spPr>
          <a:xfrm>
            <a:off x="7961809" y="3373636"/>
            <a:ext cx="3414216" cy="1804541"/>
          </a:xfrm>
          <a:prstGeom prst="roundRect">
            <a:avLst>
              <a:gd name="adj" fmla="val 5454"/>
            </a:avLst>
          </a:prstGeom>
          <a:solidFill>
            <a:srgbClr val="FDFCF9"/>
          </a:solidFill>
          <a:ln w="6350">
            <a:solidFill>
              <a:srgbClr val="DDD8CD"/>
            </a:solidFill>
            <a:prstDash val="solid"/>
          </a:ln>
        </p:spPr>
      </p:sp>
      <p:pic>
        <p:nvPicPr>
          <p:cNvPr id="24" name="Image 5" descr="Activity">    </p:cNvPr>
          <p:cNvPicPr>
            <a:picLocks noChangeAspect="1"/>
          </p:cNvPicPr>
          <p:nvPr/>
        </p:nvPicPr>
        <p:blipFill>
          <a:blip r:embed="rId6"/>
          <a:srcRect l="0" r="0" t="0" b="0"/>
          <a:stretch/>
        </p:blipFill>
        <p:spPr>
          <a:xfrm>
            <a:off x="8193584" y="3605411"/>
            <a:ext cx="304800" cy="304800"/>
          </a:xfrm>
          <a:prstGeom prst="rect">
            <a:avLst/>
          </a:prstGeom>
        </p:spPr>
      </p:pic>
      <p:sp>
        <p:nvSpPr>
          <p:cNvPr id="25" name="Text 17"/>
          <p:cNvSpPr/>
          <p:nvPr/>
        </p:nvSpPr>
        <p:spPr>
          <a:xfrm>
            <a:off x="8193584" y="3986411"/>
            <a:ext cx="30391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Nightly quality checks</a:t>
            </a:r>
            <a:endParaRPr lang="en-US" sz="1600" dirty="0"/>
          </a:p>
        </p:txBody>
      </p:sp>
      <p:sp>
        <p:nvSpPr>
          <p:cNvPr id="26" name="Text 18"/>
          <p:cNvSpPr/>
          <p:nvPr/>
        </p:nvSpPr>
        <p:spPr>
          <a:xfrm>
            <a:off x="8193584" y="4306441"/>
            <a:ext cx="303918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Accounting identities and quarter-versus-year totals; breaks go to a person for review.</a:t>
            </a:r>
            <a:endParaRPr lang="en-US" sz="1200" dirty="0"/>
          </a:p>
        </p:txBody>
      </p:sp>
      <p:sp>
        <p:nvSpPr>
          <p:cNvPr id="27"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28"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5C9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Source Serif 4" pitchFamily="18" charset="0"/>
                <a:ea typeface="Source Serif 4" pitchFamily="18" charset="-122"/>
                <a:cs typeface="Source Serif 4" pitchFamily="18" charset="-120"/>
              </a:rPr>
              <a:t>Where people decide</a:t>
            </a:r>
            <a:endParaRPr lang="en-US" sz="3600" dirty="0"/>
          </a:p>
        </p:txBody>
      </p:sp>
      <p:sp>
        <p:nvSpPr>
          <p:cNvPr id="3" name="Shape 1"/>
          <p:cNvSpPr/>
          <p:nvPr/>
        </p:nvSpPr>
        <p:spPr>
          <a:xfrm>
            <a:off x="812800" y="1728440"/>
            <a:ext cx="3318917" cy="0"/>
          </a:xfrm>
          <a:prstGeom prst="line">
            <a:avLst/>
          </a:prstGeom>
          <a:noFill/>
          <a:ln w="12700">
            <a:solidFill>
              <a:srgbClr val="DCE6F2"/>
            </a:solidFill>
            <a:prstDash val="solid"/>
          </a:ln>
        </p:spPr>
      </p:sp>
      <p:sp>
        <p:nvSpPr>
          <p:cNvPr id="4" name="Text 2"/>
          <p:cNvSpPr/>
          <p:nvPr/>
        </p:nvSpPr>
        <p:spPr>
          <a:xfrm>
            <a:off x="812800" y="1937990"/>
            <a:ext cx="341848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7F5F0"/>
                </a:solidFill>
                <a:latin typeface="Source Serif 4" pitchFamily="18" charset="0"/>
                <a:ea typeface="Source Serif 4" pitchFamily="18" charset="-122"/>
                <a:cs typeface="Source Serif 4" pitchFamily="18" charset="-120"/>
              </a:rPr>
              <a:t>Review queue</a:t>
            </a:r>
            <a:endParaRPr lang="en-US" sz="2200" dirty="0"/>
          </a:p>
        </p:txBody>
      </p:sp>
      <p:sp>
        <p:nvSpPr>
          <p:cNvPr id="5" name="Text 3"/>
          <p:cNvSpPr/>
          <p:nvPr/>
        </p:nvSpPr>
        <p:spPr>
          <a:xfrm>
            <a:off x="812800" y="2386261"/>
            <a:ext cx="3418484"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IBM Plex Sans" pitchFamily="34" charset="0"/>
                <a:ea typeface="IBM Plex Sans" pitchFamily="34" charset="-122"/>
                <a:cs typeface="IBM Plex Sans" pitchFamily="34" charset="-120"/>
              </a:rPr>
              <a:t>Disputed signals, figures that break accounting checks and newly found legal matters wait for an approve or reject. Decisions are kept for later runs.</a:t>
            </a:r>
            <a:endParaRPr lang="en-US" sz="1600" dirty="0"/>
          </a:p>
        </p:txBody>
      </p:sp>
      <p:sp>
        <p:nvSpPr>
          <p:cNvPr id="6" name="Shape 4"/>
          <p:cNvSpPr/>
          <p:nvPr/>
        </p:nvSpPr>
        <p:spPr>
          <a:xfrm>
            <a:off x="4436517" y="1728440"/>
            <a:ext cx="3318966" cy="0"/>
          </a:xfrm>
          <a:prstGeom prst="line">
            <a:avLst/>
          </a:prstGeom>
          <a:noFill/>
          <a:ln w="12700">
            <a:solidFill>
              <a:srgbClr val="DCE6F2"/>
            </a:solidFill>
            <a:prstDash val="solid"/>
          </a:ln>
        </p:spPr>
      </p:sp>
      <p:sp>
        <p:nvSpPr>
          <p:cNvPr id="7" name="Text 5"/>
          <p:cNvSpPr/>
          <p:nvPr/>
        </p:nvSpPr>
        <p:spPr>
          <a:xfrm>
            <a:off x="4436517" y="1937990"/>
            <a:ext cx="341853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7F5F0"/>
                </a:solidFill>
                <a:latin typeface="Source Serif 4" pitchFamily="18" charset="0"/>
                <a:ea typeface="Source Serif 4" pitchFamily="18" charset="-122"/>
                <a:cs typeface="Source Serif 4" pitchFamily="18" charset="-120"/>
              </a:rPr>
              <a:t>Settings, not code</a:t>
            </a:r>
            <a:endParaRPr lang="en-US" sz="2200" dirty="0"/>
          </a:p>
        </p:txBody>
      </p:sp>
      <p:sp>
        <p:nvSpPr>
          <p:cNvPr id="8" name="Text 6"/>
          <p:cNvSpPr/>
          <p:nvPr/>
        </p:nvSpPr>
        <p:spPr>
          <a:xfrm>
            <a:off x="4436517" y="2386261"/>
            <a:ext cx="3418535"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IBM Plex Sans" pitchFamily="34" charset="0"/>
                <a:ea typeface="IBM Plex Sans" pitchFamily="34" charset="-122"/>
                <a:cs typeface="IBM Plex Sans" pitchFamily="34" charset="-120"/>
              </a:rPr>
              <a:t>Companies, metrics, industries and signal thresholds are settings, reviewed before use. Metric lists are chosen by people, never generated on the fly.</a:t>
            </a:r>
            <a:endParaRPr lang="en-US" sz="1600" dirty="0"/>
          </a:p>
        </p:txBody>
      </p:sp>
      <p:sp>
        <p:nvSpPr>
          <p:cNvPr id="9" name="Shape 7"/>
          <p:cNvSpPr/>
          <p:nvPr/>
        </p:nvSpPr>
        <p:spPr>
          <a:xfrm>
            <a:off x="8060283" y="1728440"/>
            <a:ext cx="3318917" cy="0"/>
          </a:xfrm>
          <a:prstGeom prst="line">
            <a:avLst/>
          </a:prstGeom>
          <a:noFill/>
          <a:ln w="12700">
            <a:solidFill>
              <a:srgbClr val="DCE6F2"/>
            </a:solidFill>
            <a:prstDash val="solid"/>
          </a:ln>
        </p:spPr>
      </p:sp>
      <p:sp>
        <p:nvSpPr>
          <p:cNvPr id="10" name="Text 8"/>
          <p:cNvSpPr/>
          <p:nvPr/>
        </p:nvSpPr>
        <p:spPr>
          <a:xfrm>
            <a:off x="8060283" y="1937990"/>
            <a:ext cx="341848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7F5F0"/>
                </a:solidFill>
                <a:latin typeface="Source Serif 4" pitchFamily="18" charset="0"/>
                <a:ea typeface="Source Serif 4" pitchFamily="18" charset="-122"/>
                <a:cs typeface="Source Serif 4" pitchFamily="18" charset="-120"/>
              </a:rPr>
              <a:t>Quarterly list check</a:t>
            </a:r>
            <a:endParaRPr lang="en-US" sz="2200" dirty="0"/>
          </a:p>
        </p:txBody>
      </p:sp>
      <p:sp>
        <p:nvSpPr>
          <p:cNvPr id="11" name="Text 9"/>
          <p:cNvSpPr/>
          <p:nvPr/>
        </p:nvSpPr>
        <p:spPr>
          <a:xfrm>
            <a:off x="8060283" y="2386261"/>
            <a:ext cx="341848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CE6F2"/>
                </a:solidFill>
                <a:latin typeface="IBM Plex Sans" pitchFamily="34" charset="0"/>
                <a:ea typeface="IBM Plex Sans" pitchFamily="34" charset="-122"/>
                <a:cs typeface="IBM Plex Sans" pitchFamily="34" charset="-120"/>
              </a:rPr>
              <a:t>Someone confirms the S&amp;P 100 membership every quarter. Owner: [to be named].</a:t>
            </a:r>
            <a:endParaRPr lang="en-US" sz="16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CE6F2"/>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Built to run unattended, within budget</a:t>
            </a:r>
            <a:endParaRPr lang="en-US" sz="3600" dirty="0"/>
          </a:p>
        </p:txBody>
      </p:sp>
      <p:sp>
        <p:nvSpPr>
          <p:cNvPr id="3" name="Text 1"/>
          <p:cNvSpPr/>
          <p:nvPr/>
        </p:nvSpPr>
        <p:spPr>
          <a:xfrm>
            <a:off x="812800" y="1620490"/>
            <a:ext cx="528472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Reliability</a:t>
            </a:r>
            <a:endParaRPr lang="en-US" sz="2200" dirty="0"/>
          </a:p>
        </p:txBody>
      </p:sp>
      <p:sp>
        <p:nvSpPr>
          <p:cNvPr id="4" name="Text 2"/>
          <p:cNvSpPr/>
          <p:nvPr/>
        </p:nvSpPr>
        <p:spPr>
          <a:xfrm>
            <a:off x="870458" y="2068761"/>
            <a:ext cx="5219446" cy="116324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One run at a time; a run that stops midway resumes where it left off</a:t>
            </a:r>
            <a:endParaRPr lang="en-US" sz="1600" dirty="0"/>
          </a:p>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A failure affects only that company and step</a:t>
            </a:r>
            <a:endParaRPr lang="en-US" sz="1600" dirty="0"/>
          </a:p>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The 05:30 run retries what failed overnight</a:t>
            </a:r>
            <a:endParaRPr lang="en-US" sz="1600" dirty="0"/>
          </a:p>
        </p:txBody>
      </p:sp>
      <p:sp>
        <p:nvSpPr>
          <p:cNvPr id="5" name="Text 3"/>
          <p:cNvSpPr/>
          <p:nvPr/>
        </p:nvSpPr>
        <p:spPr>
          <a:xfrm>
            <a:off x="6248400" y="1620490"/>
            <a:ext cx="528472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Cost control</a:t>
            </a:r>
            <a:endParaRPr lang="en-US" sz="2200" dirty="0"/>
          </a:p>
        </p:txBody>
      </p:sp>
      <p:sp>
        <p:nvSpPr>
          <p:cNvPr id="6" name="Text 4"/>
          <p:cNvSpPr/>
          <p:nvPr/>
        </p:nvSpPr>
        <p:spPr>
          <a:xfrm>
            <a:off x="6306058" y="2068761"/>
            <a:ext cx="5219446" cy="173216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AI results are saved: unchanged inputs cost nothing on later nights</a:t>
            </a:r>
            <a:endParaRPr lang="en-US" sz="1600" dirty="0"/>
          </a:p>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A daily AI spending cap; unfinished work continues the next day</a:t>
            </a:r>
            <a:endParaRPr lang="en-US" sz="1600" dirty="0"/>
          </a:p>
          <a:p>
            <a:pPr algn="l" marL="196342" indent="-196342">
              <a:lnSpc>
                <a:spcPts val="2240"/>
              </a:lnSpc>
              <a:buSzPct val="100000"/>
              <a:buChar char="•"/>
            </a:pPr>
            <a:r>
              <a:rPr lang="en-US" sz="1600" dirty="0">
                <a:solidFill>
                  <a:srgbClr val="3D4A5C"/>
                </a:solidFill>
                <a:latin typeface="IBM Plex Sans" pitchFamily="34" charset="0"/>
                <a:ea typeface="IBM Plex Sans" pitchFamily="34" charset="-122"/>
                <a:cs typeface="IBM Plex Sans" pitchFamily="34" charset="-120"/>
              </a:rPr>
              <a:t>Market-data call limits respected; the run stops cleanly and resumes</a:t>
            </a:r>
            <a:endParaRPr lang="en-US" sz="1600" dirty="0"/>
          </a:p>
        </p:txBody>
      </p:sp>
      <p:sp>
        <p:nvSpPr>
          <p:cNvPr id="7" name="Shape 5"/>
          <p:cNvSpPr/>
          <p:nvPr/>
        </p:nvSpPr>
        <p:spPr>
          <a:xfrm>
            <a:off x="812800" y="4080321"/>
            <a:ext cx="10566400" cy="1290241"/>
          </a:xfrm>
          <a:prstGeom prst="roundRect">
            <a:avLst>
              <a:gd name="adj" fmla="val 7874"/>
            </a:avLst>
          </a:prstGeom>
          <a:solidFill>
            <a:srgbClr val="14213D"/>
          </a:solidFill>
          <a:ln/>
        </p:spPr>
      </p:sp>
      <p:sp>
        <p:nvSpPr>
          <p:cNvPr id="8" name="Text 6"/>
          <p:cNvSpPr/>
          <p:nvPr/>
        </p:nvSpPr>
        <p:spPr>
          <a:xfrm>
            <a:off x="1066800" y="4308921"/>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pitchFamily="34" charset="0"/>
                <a:ea typeface="IBM Plex Sans" pitchFamily="34" charset="-122"/>
                <a:cs typeface="IBM Plex Sans" pitchFamily="34" charset="-120"/>
              </a:rPr>
              <a:t>AI COST</a:t>
            </a:r>
            <a:endParaRPr lang="en-US" sz="1200" dirty="0"/>
          </a:p>
        </p:txBody>
      </p:sp>
      <p:sp>
        <p:nvSpPr>
          <p:cNvPr id="9" name="Text 7"/>
          <p:cNvSpPr/>
          <p:nvPr/>
        </p:nvSpPr>
        <p:spPr>
          <a:xfrm>
            <a:off x="1066800" y="4573042"/>
            <a:ext cx="1036015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F0"/>
                </a:solidFill>
                <a:latin typeface="IBM Plex Sans" pitchFamily="34" charset="0"/>
                <a:ea typeface="IBM Plex Sans" pitchFamily="34" charset="-122"/>
                <a:cs typeface="IBM Plex Sans" pitchFamily="34" charset="-120"/>
              </a:rPr>
              <a:t>Planning estimate: $70–100 for the first full load of 100 companies; daily cap $40, raised in earnings season. Measured for the current S&amp;P 100 load: [$__].</a:t>
            </a:r>
            <a:endParaRPr lang="en-US" sz="16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Status and decisions needed</a:t>
            </a:r>
            <a:endParaRPr lang="en-US" sz="3600" dirty="0"/>
          </a:p>
        </p:txBody>
      </p:sp>
      <p:sp>
        <p:nvSpPr>
          <p:cNvPr id="3" name="Text 1"/>
          <p:cNvSpPr/>
          <p:nvPr/>
        </p:nvSpPr>
        <p:spPr>
          <a:xfrm>
            <a:off x="812800" y="1620490"/>
            <a:ext cx="501656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Where we are</a:t>
            </a:r>
            <a:endParaRPr lang="en-US" sz="2200" dirty="0"/>
          </a:p>
        </p:txBody>
      </p:sp>
      <p:sp>
        <p:nvSpPr>
          <p:cNvPr id="4" name="Text 2"/>
          <p:cNvSpPr/>
          <p:nvPr/>
        </p:nvSpPr>
        <p:spPr>
          <a:xfrm>
            <a:off x="891032" y="2068761"/>
            <a:ext cx="4930711" cy="201652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Done:</a:t>
            </a:r>
            <a:r>
              <a:rPr lang="en-US" sz="1400" dirty="0">
                <a:solidFill>
                  <a:srgbClr val="3D4A5C"/>
                </a:solidFill>
                <a:latin typeface="IBM Plex Sans" pitchFamily="34" charset="0"/>
                <a:ea typeface="IBM Plex Sans" pitchFamily="34" charset="-122"/>
                <a:cs typeface="IBM Plex Sans" pitchFamily="34" charset="-120"/>
              </a:rPr>
              <a:t> pilot with 9 companies across industries</a:t>
            </a:r>
            <a:endParaRPr lang="en-US" sz="1400" dirty="0"/>
          </a:p>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Done:</a:t>
            </a:r>
            <a:r>
              <a:rPr lang="en-US" sz="1400" dirty="0">
                <a:solidFill>
                  <a:srgbClr val="3D4A5C"/>
                </a:solidFill>
                <a:latin typeface="IBM Plex Sans" pitchFamily="34" charset="0"/>
                <a:ea typeface="IBM Plex Sans" pitchFamily="34" charset="-122"/>
                <a:cs typeface="IBM Plex Sans" pitchFamily="34" charset="-120"/>
              </a:rPr>
              <a:t> D&amp;O risk layer: market moves, insider trades, litigation</a:t>
            </a:r>
            <a:endParaRPr lang="en-US" sz="1400" dirty="0"/>
          </a:p>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Done:</a:t>
            </a:r>
            <a:r>
              <a:rPr lang="en-US" sz="1400" dirty="0">
                <a:solidFill>
                  <a:srgbClr val="3D4A5C"/>
                </a:solidFill>
                <a:latin typeface="IBM Plex Sans" pitchFamily="34" charset="0"/>
                <a:ea typeface="IBM Plex Sans" pitchFamily="34" charset="-122"/>
                <a:cs typeface="IBM Plex Sans" pitchFamily="34" charset="-120"/>
              </a:rPr>
              <a:t> S&amp;P 100 financial data in 24 industry groups</a:t>
            </a:r>
            <a:endParaRPr lang="en-US" sz="1400" dirty="0"/>
          </a:p>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In progress:</a:t>
            </a:r>
            <a:r>
              <a:rPr lang="en-US" sz="1400" dirty="0">
                <a:solidFill>
                  <a:srgbClr val="3D4A5C"/>
                </a:solidFill>
                <a:latin typeface="IBM Plex Sans" pitchFamily="34" charset="0"/>
                <a:ea typeface="IBM Plex Sans" pitchFamily="34" charset="-122"/>
                <a:cs typeface="IBM Plex Sans" pitchFamily="34" charset="-120"/>
              </a:rPr>
              <a:t> first AI pass over the S&amp;P 100</a:t>
            </a:r>
            <a:endParaRPr lang="en-US" sz="1400" dirty="0"/>
          </a:p>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Next:</a:t>
            </a:r>
            <a:r>
              <a:rPr lang="en-US" sz="1400" dirty="0">
                <a:solidFill>
                  <a:srgbClr val="3D4A5C"/>
                </a:solidFill>
                <a:latin typeface="IBM Plex Sans" pitchFamily="34" charset="0"/>
                <a:ea typeface="IBM Plex Sans" pitchFamily="34" charset="-122"/>
                <a:cs typeface="IBM Plex Sans" pitchFamily="34" charset="-120"/>
              </a:rPr>
              <a:t> deploy on Azure with SecureGPT; confirm the data contract with the Professional 360 app team</a:t>
            </a:r>
            <a:endParaRPr lang="en-US" sz="1400" dirty="0"/>
          </a:p>
          <a:p>
            <a:pPr algn="l" marL="175768" indent="-175768">
              <a:lnSpc>
                <a:spcPts val="196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Planned:</a:t>
            </a:r>
            <a:r>
              <a:rPr lang="en-US" sz="1400" dirty="0">
                <a:solidFill>
                  <a:srgbClr val="3D4A5C"/>
                </a:solidFill>
                <a:latin typeface="IBM Plex Sans" pitchFamily="34" charset="0"/>
                <a:ea typeface="IBM Plex Sans" pitchFamily="34" charset="-122"/>
                <a:cs typeface="IBM Plex Sans" pitchFamily="34" charset="-120"/>
              </a:rPr>
              <a:t> about 98% of US-listed operating companies</a:t>
            </a:r>
            <a:endParaRPr lang="en-US" sz="1400" dirty="0"/>
          </a:p>
        </p:txBody>
      </p:sp>
      <p:sp>
        <p:nvSpPr>
          <p:cNvPr id="5" name="Shape 3"/>
          <p:cNvSpPr/>
          <p:nvPr/>
        </p:nvSpPr>
        <p:spPr>
          <a:xfrm>
            <a:off x="5991225" y="1623665"/>
            <a:ext cx="5384800" cy="2433042"/>
          </a:xfrm>
          <a:prstGeom prst="roundRect">
            <a:avLst>
              <a:gd name="adj" fmla="val 4045"/>
            </a:avLst>
          </a:prstGeom>
          <a:solidFill>
            <a:srgbClr val="FDFCF9"/>
          </a:solidFill>
          <a:ln w="6350">
            <a:solidFill>
              <a:srgbClr val="DDD8CD"/>
            </a:solidFill>
            <a:prstDash val="solid"/>
          </a:ln>
        </p:spPr>
      </p:sp>
      <p:sp>
        <p:nvSpPr>
          <p:cNvPr id="6" name="Text 4"/>
          <p:cNvSpPr/>
          <p:nvPr/>
        </p:nvSpPr>
        <p:spPr>
          <a:xfrm>
            <a:off x="6248400" y="1880840"/>
            <a:ext cx="5016564"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4213D"/>
                </a:solidFill>
                <a:latin typeface="Source Serif 4" pitchFamily="18" charset="0"/>
                <a:ea typeface="Source Serif 4" pitchFamily="18" charset="-122"/>
                <a:cs typeface="Source Serif 4" pitchFamily="18" charset="-120"/>
              </a:rPr>
              <a:t>Decisions needed</a:t>
            </a:r>
            <a:endParaRPr lang="en-US" sz="2200" dirty="0"/>
          </a:p>
        </p:txBody>
      </p:sp>
      <p:sp>
        <p:nvSpPr>
          <p:cNvPr id="7" name="Text 5"/>
          <p:cNvSpPr/>
          <p:nvPr/>
        </p:nvSpPr>
        <p:spPr>
          <a:xfrm>
            <a:off x="6305352" y="2329111"/>
            <a:ext cx="4951992" cy="1269851"/>
          </a:xfrm>
          <a:prstGeom prst="rect">
            <a:avLst/>
          </a:prstGeom>
          <a:noFill/>
          <a:ln/>
        </p:spPr>
        <p:txBody>
          <a:bodyPr wrap="square" lIns="0" tIns="0" rIns="0" bIns="0" rtlCol="0" anchor="t">
            <a:normAutofit/>
          </a:bodyPr>
          <a:lstStyle/>
          <a:p>
            <a:pPr algn="l" marL="197048" indent="-197048">
              <a:lnSpc>
                <a:spcPts val="196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Premium market-data subscription (Alpha Vantage) for prices, estimates and news</a:t>
            </a:r>
            <a:endParaRPr lang="en-US" sz="1400" dirty="0"/>
          </a:p>
          <a:p>
            <a:pPr algn="l" marL="197048" indent="-197048">
              <a:lnSpc>
                <a:spcPts val="196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SecureGPT request-rate quotas from the gateway team</a:t>
            </a:r>
            <a:endParaRPr lang="en-US" sz="1400" dirty="0"/>
          </a:p>
          <a:p>
            <a:pPr algn="l" marL="197048" indent="-197048">
              <a:lnSpc>
                <a:spcPts val="196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An owner for the quarterly S&amp;P 100 list check</a:t>
            </a:r>
            <a:endParaRPr lang="en-US" sz="1400" dirty="0"/>
          </a:p>
          <a:p>
            <a:pPr algn="l" marL="197048" indent="-197048">
              <a:lnSpc>
                <a:spcPts val="196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AI budget for earnings season</a:t>
            </a:r>
            <a:endParaRPr lang="en-US" sz="14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Professional 360 · Underwriting data pipeline</a:t>
            </a:r>
            <a:endParaRPr lang="en-US" sz="1200" dirty="0"/>
          </a:p>
        </p:txBody>
      </p:sp>
      <p:sp>
        <p:nvSpPr>
          <p:cNvPr id="9"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theme/theme1.xml><?xml version="1.0" encoding="utf-8"?>
<a:theme xmlns:a="http://schemas.openxmlformats.org/drawingml/2006/main" name="Underwriting Data Pipeline: Day-to-Day Workflow">
  <a:themeElements>
    <a:clrScheme name="Underwriting Data Pipeline: Day-to-Day Workflow">
      <a:dk1>
        <a:srgbClr val="14213D"/>
      </a:dk1>
      <a:lt1>
        <a:srgbClr val="F7F5F0"/>
      </a:lt1>
      <a:dk2>
        <a:srgbClr val="4D566A"/>
      </a:dk2>
      <a:lt2>
        <a:srgbClr val="E0E0DE"/>
      </a:lt2>
      <a:accent1>
        <a:srgbClr val="A8540F"/>
      </a:accent1>
      <a:accent2>
        <a:srgbClr val="2B5C9E"/>
      </a:accent2>
      <a:accent3>
        <a:srgbClr val="F0A35E"/>
      </a:accent3>
      <a:accent4>
        <a:srgbClr val="3D4A5C"/>
      </a:accent4>
      <a:accent5>
        <a:srgbClr val="5F6B7A"/>
      </a:accent5>
      <a:accent6>
        <a:srgbClr val="DCE6F2"/>
      </a:accent6>
      <a:hlink>
        <a:srgbClr val="0563C1"/>
      </a:hlink>
      <a:folHlink>
        <a:srgbClr val="954F72"/>
      </a:folHlink>
    </a:clrScheme>
    <a:fontScheme name="Underwriting Data Pipeline: Day-to-Day Workflow">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Underwriting Data Pipeline: Day-to-Day Workflow</dc:title>
  <dc:subject/>
  <dc:creator/>
  <cp:lastModifiedBy/>
  <cp:revision>1</cp:revision>
  <dcterms:created xsi:type="dcterms:W3CDTF">2026-10-19T04:18:22Z</dcterms:created>
  <dcterms:modified xsi:type="dcterms:W3CDTF">2026-10-19T04:18:22Z</dcterms:modified>
</cp:coreProperties>
</file>